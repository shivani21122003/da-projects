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56" r:id="rId3"/>
    <p:sldId id="259" r:id="rId4"/>
    <p:sldId id="258" r:id="rId5"/>
    <p:sldId id="280" r:id="rId6"/>
    <p:sldId id="261" r:id="rId7"/>
    <p:sldId id="262" r:id="rId8"/>
    <p:sldId id="267" r:id="rId9"/>
    <p:sldId id="279" r:id="rId10"/>
    <p:sldId id="268" r:id="rId11"/>
    <p:sldId id="269" r:id="rId12"/>
    <p:sldId id="275" r:id="rId13"/>
    <p:sldId id="270" r:id="rId14"/>
    <p:sldId id="278" r:id="rId15"/>
    <p:sldId id="277" r:id="rId16"/>
    <p:sldId id="276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AFC9E8"/>
    <a:srgbClr val="B0CAE9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4575F-1B51-417F-94F1-02C701F6BF66}" v="17" dt="2026-07-24T09:24:11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59" autoAdjust="0"/>
  </p:normalViewPr>
  <p:slideViewPr>
    <p:cSldViewPr snapToGrid="0">
      <p:cViewPr>
        <p:scale>
          <a:sx n="100" d="100"/>
          <a:sy n="100" d="100"/>
        </p:scale>
        <p:origin x="-892" y="-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6020B-C619-4A7F-9EC5-27265F7DF103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6A8C4-C174-444D-BCD8-432FF54C2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6A8C4-C174-444D-BCD8-432FF54C21A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22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EAD5-BC0B-42B5-7D2B-32D06747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10485-7586-BF07-FCBB-D2DA9F927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13132-34D7-E47C-1D26-B918F8741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FD39-F29D-4005-90FE-27E7741BD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6A8C4-C174-444D-BCD8-432FF54C21A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073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87E9-25E5-BC5D-D187-DF72EB031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509E6-B1FD-8432-74C2-312C86809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40D1-91B5-482A-870A-0369BAFD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4EEE5-70E3-3AEE-1732-FFB4F417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0A82-273E-CD94-94DA-543C7895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23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DEB0-7FC2-1FFA-39CE-39BF5348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AB4D-55AB-EC1A-D29E-2D45D97CF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5145-76B8-CE9B-8476-51CC44C4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1C53-D297-1201-BE95-E20AAF02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9273-8E43-A5D3-23E3-44DDE31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95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1896-BC60-17D8-401C-D1FFB31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1A80D-5D1D-B2B7-E442-A72F1A6C2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6E833-FADA-6B83-19EF-76F67C47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130BC-0F77-1FAA-D08F-6DEA17B70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97302-4B98-67CE-7B25-B52D528A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2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156C-5240-0CAE-EA86-678EF7D7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A60D-257B-01D0-9B26-E9F7707D1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DF10A-A95C-316C-5295-38F969A54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3858-DAF1-B51F-A1C1-3897E7D0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E3F6F-91C0-732A-1664-B739B049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99364-1D1F-4885-3FB1-9E58D758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34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6DA9-7536-D085-D768-23AC0ED6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75F83-8D3F-DDEE-86A5-7B5494C23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FA428-F3C6-B858-DF4A-295719FD8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23B21-9366-1805-4FC3-E29ECD69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820EE-77C2-E441-9B3F-BB49204CB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8EF7B-8DC0-A0B9-5CD8-12149368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23AE8-34D8-FF87-D3ED-A521A79B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48C12-ED9E-034B-C63B-3ECFD94F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40FF-7210-70BD-48B8-3293D495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DA079-5D76-13F5-2543-2B58835B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A303B-892C-01DD-930A-9227FE9A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D0325-1EB9-B34B-9801-D03437D2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9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B1315-D5DE-8780-DC5F-4564A731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39B11-4A13-E9B4-934C-1173968B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B0C12-8838-A5D6-529A-2CBC068A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3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8CB8-60CD-72C3-F8C4-0C0D06A5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241A-EBFA-4720-AD11-FAFAE317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6B28A-9D51-8D7A-CEFB-C5B9F9838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900A6-7A0B-D0D9-EE3B-31CCAF7F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95223-7512-9A59-0334-41AEBB11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78007-9394-37B4-32E6-E7018462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26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1B59-06ED-92D9-ADFE-7E26E55A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56E62-A298-07C4-7616-D151A538C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6617D-F4DF-F07D-A729-378F3E2FE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419D9-22E4-6C1A-5BAE-C3938B5D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806EE-E177-0DD2-0930-15A825BC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3D702-2714-777E-2D91-CFD3CD5C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73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13F1-7DAD-DD1E-9F7C-5C1184EF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66A54-BA5D-7B23-6B27-540873DA2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966A6-5000-3B70-CEAE-DC972900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BD813-4ADD-7B5F-BB06-8D9CBB14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00F8-C086-0181-59B0-5B5E78F51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3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3EE24-1A27-E178-C29F-4D2FCCB12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40AFE-B147-1437-4902-39560216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554B7-9845-62C7-7613-7A1BAE68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F32B2-4110-3CED-45C1-E0C3B434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24213-003B-ABF7-2BD2-19C8C658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08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B0BF0-9A9F-4B00-82C7-2F3AED06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30333-4836-B780-D6D1-1BF266E59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7DC16-FE83-413C-F50E-E42AFC7DD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541A5-5597-4EC7-A0EA-CB41E20F571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B7C0C-EB7F-0149-5439-19B7C18B7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CF509-AF7F-BBCA-51B8-706880187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C4CC-C1C4-4F44-8CD3-FD9A81BA7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9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DA06A2-3383-FD50-A25A-907E150D8FDB}"/>
              </a:ext>
            </a:extLst>
          </p:cNvPr>
          <p:cNvSpPr/>
          <p:nvPr/>
        </p:nvSpPr>
        <p:spPr>
          <a:xfrm>
            <a:off x="1741715" y="1328056"/>
            <a:ext cx="9209314" cy="435428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isometricLeftDown"/>
              <a:lightRig rig="threePt" dir="t"/>
            </a:scene3d>
          </a:bodyPr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E4DA8-0AA9-7D35-B40C-89506941F2C8}"/>
              </a:ext>
            </a:extLst>
          </p:cNvPr>
          <p:cNvSpPr txBox="1"/>
          <p:nvPr/>
        </p:nvSpPr>
        <p:spPr>
          <a:xfrm>
            <a:off x="2239464" y="2818413"/>
            <a:ext cx="7713072" cy="10127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sz="5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F41A9-C243-D107-7520-26AEB424DB01}"/>
              </a:ext>
            </a:extLst>
          </p:cNvPr>
          <p:cNvSpPr txBox="1"/>
          <p:nvPr/>
        </p:nvSpPr>
        <p:spPr>
          <a:xfrm>
            <a:off x="6096000" y="4869800"/>
            <a:ext cx="3918857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SIRAVENI SHIVANI</a:t>
            </a:r>
          </a:p>
        </p:txBody>
      </p:sp>
    </p:spTree>
    <p:extLst>
      <p:ext uri="{BB962C8B-B14F-4D97-AF65-F5344CB8AC3E}">
        <p14:creationId xmlns:p14="http://schemas.microsoft.com/office/powerpoint/2010/main" val="22548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F60069-2B98-20DA-A4B1-88C1C273A327}"/>
              </a:ext>
            </a:extLst>
          </p:cNvPr>
          <p:cNvSpPr txBox="1"/>
          <p:nvPr/>
        </p:nvSpPr>
        <p:spPr>
          <a:xfrm>
            <a:off x="2658978" y="1012781"/>
            <a:ext cx="6957060" cy="722675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Window Functions?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365A9-CA2F-575D-B766-07A8F0B659CB}"/>
              </a:ext>
            </a:extLst>
          </p:cNvPr>
          <p:cNvSpPr txBox="1"/>
          <p:nvPr/>
        </p:nvSpPr>
        <p:spPr>
          <a:xfrm>
            <a:off x="2658978" y="1793563"/>
            <a:ext cx="6957060" cy="961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tIns="90000" bIns="90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Window Functions perform calculations across a group of rows related to the current row </a:t>
            </a: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reducing the number of rows.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3A124A2A-5344-EA1B-166F-77D8AD5AB1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55AF54-77E9-DC48-2F30-A3564B2B9609}"/>
              </a:ext>
            </a:extLst>
          </p:cNvPr>
          <p:cNvSpPr txBox="1"/>
          <p:nvPr/>
        </p:nvSpPr>
        <p:spPr>
          <a:xfrm>
            <a:off x="195943" y="104941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E6093B-EF24-E18B-4F68-91BF30383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433" y="2932132"/>
            <a:ext cx="5520690" cy="277827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2962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6BF99-E81D-6153-CD04-F559C8E29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E71FED9-F61D-5050-E29E-45236ED6A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971" y="1081669"/>
            <a:ext cx="9846527" cy="501804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function_name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7AE737-6FC4-4FA0-A201-52533ACE3B4E}"/>
              </a:ext>
            </a:extLst>
          </p:cNvPr>
          <p:cNvSpPr txBox="1"/>
          <p:nvPr/>
        </p:nvSpPr>
        <p:spPr>
          <a:xfrm>
            <a:off x="4724401" y="2277504"/>
            <a:ext cx="3048000" cy="458757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&lt;window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&gt;()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24B9F-F7CF-ED4E-3DB6-65A79AAC0227}"/>
              </a:ext>
            </a:extLst>
          </p:cNvPr>
          <p:cNvSpPr txBox="1"/>
          <p:nvPr/>
        </p:nvSpPr>
        <p:spPr>
          <a:xfrm>
            <a:off x="3211829" y="1118607"/>
            <a:ext cx="5795011" cy="458757"/>
          </a:xfrm>
          <a:prstGeom prst="rect">
            <a:avLst/>
          </a:prstGeom>
          <a:noFill/>
          <a:ln w="2540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Syntax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1367FC-5423-5D06-9ABF-861CA0AE3278}"/>
              </a:ext>
            </a:extLst>
          </p:cNvPr>
          <p:cNvSpPr txBox="1"/>
          <p:nvPr/>
        </p:nvSpPr>
        <p:spPr>
          <a:xfrm>
            <a:off x="7892143" y="2277504"/>
            <a:ext cx="936171" cy="458757"/>
          </a:xfrm>
          <a:prstGeom prst="rect">
            <a:avLst/>
          </a:prstGeom>
          <a:noFill/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OVER(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4C7128-EBB3-A412-5353-7F9F043DC05D}"/>
              </a:ext>
            </a:extLst>
          </p:cNvPr>
          <p:cNvSpPr txBox="1"/>
          <p:nvPr/>
        </p:nvSpPr>
        <p:spPr>
          <a:xfrm>
            <a:off x="6509657" y="3023870"/>
            <a:ext cx="3211286" cy="458757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BY &lt;expression&gt;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76B74B-35F9-F342-464C-E358EC8BAEE8}"/>
              </a:ext>
            </a:extLst>
          </p:cNvPr>
          <p:cNvSpPr txBox="1"/>
          <p:nvPr/>
        </p:nvSpPr>
        <p:spPr>
          <a:xfrm flipH="1">
            <a:off x="6509656" y="3755209"/>
            <a:ext cx="4299858" cy="458757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BY &lt;expression&gt; [ASC|DESC ]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2BEE1F-67AE-9C75-F606-F24AF2C17FC1}"/>
              </a:ext>
            </a:extLst>
          </p:cNvPr>
          <p:cNvSpPr txBox="1"/>
          <p:nvPr/>
        </p:nvSpPr>
        <p:spPr>
          <a:xfrm>
            <a:off x="5785756" y="4360621"/>
            <a:ext cx="576942" cy="458757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EFA19A01-3642-2129-99AE-836742D5DB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54958-F9CA-3236-DC01-ED77FB84D7FF}"/>
              </a:ext>
            </a:extLst>
          </p:cNvPr>
          <p:cNvSpPr txBox="1"/>
          <p:nvPr/>
        </p:nvSpPr>
        <p:spPr>
          <a:xfrm>
            <a:off x="391887" y="146824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1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A135-FFD2-C585-C11F-E905C095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884D20-CA4C-333C-6B0A-C903F9EAB602}"/>
              </a:ext>
            </a:extLst>
          </p:cNvPr>
          <p:cNvCxnSpPr>
            <a:cxnSpLocks/>
          </p:cNvCxnSpPr>
          <p:nvPr/>
        </p:nvCxnSpPr>
        <p:spPr>
          <a:xfrm flipH="1">
            <a:off x="2334047" y="2400797"/>
            <a:ext cx="1981202" cy="12954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C940F0-C828-B2E8-C0EF-28FA98E09EEC}"/>
              </a:ext>
            </a:extLst>
          </p:cNvPr>
          <p:cNvCxnSpPr>
            <a:cxnSpLocks/>
          </p:cNvCxnSpPr>
          <p:nvPr/>
        </p:nvCxnSpPr>
        <p:spPr>
          <a:xfrm>
            <a:off x="4315249" y="2394187"/>
            <a:ext cx="0" cy="13086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B6D0FC-BCEB-82AB-FD35-C391BF93FD82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315249" y="2417142"/>
            <a:ext cx="1759131" cy="13086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666493-7E58-99F7-1717-F3DB374E2C07}"/>
              </a:ext>
            </a:extLst>
          </p:cNvPr>
          <p:cNvSpPr txBox="1"/>
          <p:nvPr/>
        </p:nvSpPr>
        <p:spPr>
          <a:xfrm>
            <a:off x="996840" y="4102998"/>
            <a:ext cx="2198928" cy="101275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ROW_NUMBER()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DENSE_RANK()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B079B2-9C26-AED5-844D-B2E1C8B50409}"/>
              </a:ext>
            </a:extLst>
          </p:cNvPr>
          <p:cNvSpPr txBox="1"/>
          <p:nvPr/>
        </p:nvSpPr>
        <p:spPr>
          <a:xfrm>
            <a:off x="3768818" y="4138609"/>
            <a:ext cx="1425996" cy="735756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LEAD()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5DDEB9-E8E3-3F2A-6863-6F55CF2AAC93}"/>
              </a:ext>
            </a:extLst>
          </p:cNvPr>
          <p:cNvSpPr txBox="1"/>
          <p:nvPr/>
        </p:nvSpPr>
        <p:spPr>
          <a:xfrm>
            <a:off x="6074380" y="4116888"/>
            <a:ext cx="1154961" cy="1566752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MAX()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DAC704-B658-F1B4-77AD-557DA4F3D51F}"/>
              </a:ext>
            </a:extLst>
          </p:cNvPr>
          <p:cNvSpPr txBox="1"/>
          <p:nvPr/>
        </p:nvSpPr>
        <p:spPr>
          <a:xfrm>
            <a:off x="1177427" y="3660572"/>
            <a:ext cx="6487886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RANKING                        VALUES               AGGRAGTE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D5C36D-CF98-0B2F-9779-8492277C464A}"/>
              </a:ext>
            </a:extLst>
          </p:cNvPr>
          <p:cNvSpPr txBox="1"/>
          <p:nvPr/>
        </p:nvSpPr>
        <p:spPr>
          <a:xfrm>
            <a:off x="2491740" y="1133222"/>
            <a:ext cx="7166610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TYPES OF WINDOW FUNCTIONS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F2C79B-D0A0-3C4B-E839-4B0EF80821B6}"/>
              </a:ext>
            </a:extLst>
          </p:cNvPr>
          <p:cNvSpPr txBox="1"/>
          <p:nvPr/>
        </p:nvSpPr>
        <p:spPr>
          <a:xfrm>
            <a:off x="2957243" y="1958385"/>
            <a:ext cx="2716012" cy="45875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3A5C636A-0248-2521-E758-430DA8B274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54AF2-7281-52E5-AA57-1965960FF77B}"/>
              </a:ext>
            </a:extLst>
          </p:cNvPr>
          <p:cNvSpPr txBox="1"/>
          <p:nvPr/>
        </p:nvSpPr>
        <p:spPr>
          <a:xfrm>
            <a:off x="3872865" y="112852"/>
            <a:ext cx="4446270" cy="67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6EF3DE-AD14-F145-6A65-3C9E55007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071" y="2187763"/>
            <a:ext cx="3799596" cy="309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7D3C2-9712-76AF-1E6D-EBD4D252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5FFA35CD-9A62-4687-8141-E44A8C27BFDF}"/>
              </a:ext>
            </a:extLst>
          </p:cNvPr>
          <p:cNvSpPr txBox="1"/>
          <p:nvPr/>
        </p:nvSpPr>
        <p:spPr>
          <a:xfrm>
            <a:off x="2937510" y="1224864"/>
            <a:ext cx="6640830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RANKING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ADB5D4E-A14A-911F-8CB1-9AC6C2B2D2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DEA12-E02F-D227-0544-1FC7FF2D1480}"/>
              </a:ext>
            </a:extLst>
          </p:cNvPr>
          <p:cNvSpPr txBox="1"/>
          <p:nvPr/>
        </p:nvSpPr>
        <p:spPr>
          <a:xfrm>
            <a:off x="3872865" y="112852"/>
            <a:ext cx="4446270" cy="67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837C2-16F7-808B-2E82-FE6CDDD07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549" y="3119912"/>
            <a:ext cx="5558901" cy="2690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D0DC5-E450-2DE8-AA05-D1D4546AA472}"/>
              </a:ext>
            </a:extLst>
          </p:cNvPr>
          <p:cNvSpPr txBox="1"/>
          <p:nvPr/>
        </p:nvSpPr>
        <p:spPr>
          <a:xfrm>
            <a:off x="2468880" y="2011916"/>
            <a:ext cx="8042910" cy="8720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functions assign a sequential or relative rank to rows according to a specified order while preserving all records in the result set.</a:t>
            </a:r>
          </a:p>
        </p:txBody>
      </p:sp>
    </p:spTree>
    <p:extLst>
      <p:ext uri="{BB962C8B-B14F-4D97-AF65-F5344CB8AC3E}">
        <p14:creationId xmlns:p14="http://schemas.microsoft.com/office/powerpoint/2010/main" val="413294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512E-1E06-BED7-2837-8A4F6BE3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97E5A-925B-B1BC-CFAB-EF8FDBB063CE}"/>
              </a:ext>
            </a:extLst>
          </p:cNvPr>
          <p:cNvSpPr txBox="1"/>
          <p:nvPr/>
        </p:nvSpPr>
        <p:spPr>
          <a:xfrm>
            <a:off x="3102429" y="1186544"/>
            <a:ext cx="6542314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ROW_NUMBER</a:t>
            </a:r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0701-532A-DF0A-EF32-AAA8C81FFA85}"/>
              </a:ext>
            </a:extLst>
          </p:cNvPr>
          <p:cNvSpPr txBox="1"/>
          <p:nvPr/>
        </p:nvSpPr>
        <p:spPr>
          <a:xfrm>
            <a:off x="985480" y="2367540"/>
            <a:ext cx="2428329" cy="3228746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ROW_NUMBER()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l"/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2749D-D70F-FC48-3703-1375C5A5A883}"/>
              </a:ext>
            </a:extLst>
          </p:cNvPr>
          <p:cNvSpPr txBox="1"/>
          <p:nvPr/>
        </p:nvSpPr>
        <p:spPr>
          <a:xfrm>
            <a:off x="2792186" y="1968951"/>
            <a:ext cx="6994072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a unique sequential number to each row.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76921D-B17B-952A-AA81-13898A12C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985" y="2834981"/>
            <a:ext cx="3180481" cy="23698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093718-4293-AB4A-967F-8EA090AFD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260" y="3429000"/>
            <a:ext cx="3245030" cy="142200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8AC8FF-BC3A-4F2C-211A-F11FAC38D97B}"/>
              </a:ext>
            </a:extLst>
          </p:cNvPr>
          <p:cNvCxnSpPr>
            <a:cxnSpLocks/>
          </p:cNvCxnSpPr>
          <p:nvPr/>
        </p:nvCxnSpPr>
        <p:spPr>
          <a:xfrm>
            <a:off x="3503809" y="3975307"/>
            <a:ext cx="509451" cy="660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94AC5A-CA38-DAC8-1019-C78C5A6793F5}"/>
              </a:ext>
            </a:extLst>
          </p:cNvPr>
          <p:cNvCxnSpPr>
            <a:cxnSpLocks/>
          </p:cNvCxnSpPr>
          <p:nvPr/>
        </p:nvCxnSpPr>
        <p:spPr>
          <a:xfrm>
            <a:off x="7452360" y="3899833"/>
            <a:ext cx="40538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3D2B4553-6DD3-64A6-08AB-2FFA2A4E3C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D1464-A78B-A688-A423-24AB124D991C}"/>
              </a:ext>
            </a:extLst>
          </p:cNvPr>
          <p:cNvSpPr txBox="1"/>
          <p:nvPr/>
        </p:nvSpPr>
        <p:spPr>
          <a:xfrm>
            <a:off x="3503809" y="121365"/>
            <a:ext cx="5845931" cy="67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33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FC3E-8E50-F126-0DD4-B75F553F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9D0B32-83C9-1B7F-237E-F964C5643D15}"/>
              </a:ext>
            </a:extLst>
          </p:cNvPr>
          <p:cNvSpPr txBox="1"/>
          <p:nvPr/>
        </p:nvSpPr>
        <p:spPr>
          <a:xfrm>
            <a:off x="2786743" y="1251857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4E2C5-531B-86C9-0353-4A6C75AA0D5B}"/>
              </a:ext>
            </a:extLst>
          </p:cNvPr>
          <p:cNvSpPr txBox="1"/>
          <p:nvPr/>
        </p:nvSpPr>
        <p:spPr>
          <a:xfrm>
            <a:off x="1079318" y="2737999"/>
            <a:ext cx="2388870" cy="267474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BA854-C346-C3AB-C331-A9922735E024}"/>
              </a:ext>
            </a:extLst>
          </p:cNvPr>
          <p:cNvSpPr txBox="1"/>
          <p:nvPr/>
        </p:nvSpPr>
        <p:spPr>
          <a:xfrm>
            <a:off x="2607128" y="2223807"/>
            <a:ext cx="6977743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the same rank to ties and skips the next rank.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C92394-D343-CDEC-5759-C70A3E9F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727" y="2881126"/>
            <a:ext cx="3242855" cy="23884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54EAA1-0748-7682-6AF4-6078BFBC7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71" y="3326043"/>
            <a:ext cx="3124508" cy="169199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01C728-4E1C-8080-C659-35D035DE2ED7}"/>
              </a:ext>
            </a:extLst>
          </p:cNvPr>
          <p:cNvCxnSpPr>
            <a:cxnSpLocks/>
          </p:cNvCxnSpPr>
          <p:nvPr/>
        </p:nvCxnSpPr>
        <p:spPr>
          <a:xfrm>
            <a:off x="7303770" y="4172041"/>
            <a:ext cx="40005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FAEB21-863B-A566-2AC7-57A6F4B8F312}"/>
              </a:ext>
            </a:extLst>
          </p:cNvPr>
          <p:cNvCxnSpPr>
            <a:cxnSpLocks/>
          </p:cNvCxnSpPr>
          <p:nvPr/>
        </p:nvCxnSpPr>
        <p:spPr>
          <a:xfrm>
            <a:off x="3611880" y="4172041"/>
            <a:ext cx="31661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0A41C095-196D-9C57-7C72-FDF5175A2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454B2-7BFE-5780-E072-356F6B936624}"/>
              </a:ext>
            </a:extLst>
          </p:cNvPr>
          <p:cNvSpPr txBox="1"/>
          <p:nvPr/>
        </p:nvSpPr>
        <p:spPr>
          <a:xfrm>
            <a:off x="195942" y="164265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0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9D23B-1BB1-6D3C-8BCE-DE7812C1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664C55-3807-69DF-F8AD-B4D97ADCDEFA}"/>
              </a:ext>
            </a:extLst>
          </p:cNvPr>
          <p:cNvSpPr txBox="1"/>
          <p:nvPr/>
        </p:nvSpPr>
        <p:spPr>
          <a:xfrm>
            <a:off x="2786743" y="1096803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DENSE_RANK()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D9435-C08F-0711-4E64-91D3E4666BFF}"/>
              </a:ext>
            </a:extLst>
          </p:cNvPr>
          <p:cNvSpPr txBox="1"/>
          <p:nvPr/>
        </p:nvSpPr>
        <p:spPr>
          <a:xfrm>
            <a:off x="1110341" y="2696164"/>
            <a:ext cx="2591073" cy="2951747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DENSE_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2F22B-3BC2-876D-B04C-19511A2A2809}"/>
              </a:ext>
            </a:extLst>
          </p:cNvPr>
          <p:cNvSpPr txBox="1"/>
          <p:nvPr/>
        </p:nvSpPr>
        <p:spPr>
          <a:xfrm>
            <a:off x="2786742" y="1904697"/>
            <a:ext cx="6977743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the same rank to ties without skipping ranks.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6D0A92-E827-860B-760A-EDBFA3F36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977" y="3375957"/>
            <a:ext cx="3131820" cy="159216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941FD7-9171-F742-7634-40DD33482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201" y="3071864"/>
            <a:ext cx="2274570" cy="23779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64131D-21DA-A401-7225-6EF9698FC9AF}"/>
              </a:ext>
            </a:extLst>
          </p:cNvPr>
          <p:cNvCxnSpPr>
            <a:cxnSpLocks/>
          </p:cNvCxnSpPr>
          <p:nvPr/>
        </p:nvCxnSpPr>
        <p:spPr>
          <a:xfrm>
            <a:off x="3784418" y="4172128"/>
            <a:ext cx="69614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DD24FC-A8CB-08E2-1180-8D7901F1E5DE}"/>
              </a:ext>
            </a:extLst>
          </p:cNvPr>
          <p:cNvCxnSpPr>
            <a:cxnSpLocks/>
          </p:cNvCxnSpPr>
          <p:nvPr/>
        </p:nvCxnSpPr>
        <p:spPr>
          <a:xfrm>
            <a:off x="7966710" y="4172130"/>
            <a:ext cx="492578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6B9564EB-0A6C-6B93-294C-3FD1D27EFD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2DC73-DF1A-9909-A5A4-00DB0A46E8AE}"/>
              </a:ext>
            </a:extLst>
          </p:cNvPr>
          <p:cNvSpPr txBox="1"/>
          <p:nvPr/>
        </p:nvSpPr>
        <p:spPr>
          <a:xfrm>
            <a:off x="195943" y="179318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93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79FE-08C5-27AC-BF0C-EF5B789C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BFC2D4-AC63-4AA0-A6E3-D84A4B9D5A01}"/>
              </a:ext>
            </a:extLst>
          </p:cNvPr>
          <p:cNvSpPr txBox="1"/>
          <p:nvPr/>
        </p:nvSpPr>
        <p:spPr>
          <a:xfrm>
            <a:off x="2786743" y="1068645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B0194325-7B97-5447-CAA0-6C72B792BF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00C8F-A1A2-40D8-BE05-72571EE1B3EA}"/>
              </a:ext>
            </a:extLst>
          </p:cNvPr>
          <p:cNvSpPr txBox="1"/>
          <p:nvPr/>
        </p:nvSpPr>
        <p:spPr>
          <a:xfrm>
            <a:off x="195943" y="180965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99E15-C422-62F1-AC47-7267B1329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449" y="2926080"/>
            <a:ext cx="7893359" cy="3028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E7EF8F-C106-7EBE-3176-B0EE8F4A1A33}"/>
              </a:ext>
            </a:extLst>
          </p:cNvPr>
          <p:cNvSpPr txBox="1"/>
          <p:nvPr/>
        </p:nvSpPr>
        <p:spPr>
          <a:xfrm>
            <a:off x="2395129" y="1836890"/>
            <a:ext cx="7760970" cy="8720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Functions retrieve values from previous or next rows, making them useful for comparisons, trend analysis, and sequential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9202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FDCF-22F3-4939-AF38-BAE92E9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A938F6-4B88-1AA5-E60B-FE8B16CC79ED}"/>
              </a:ext>
            </a:extLst>
          </p:cNvPr>
          <p:cNvSpPr txBox="1"/>
          <p:nvPr/>
        </p:nvSpPr>
        <p:spPr>
          <a:xfrm>
            <a:off x="2786743" y="1068645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66711-F321-9D60-3950-FB1C4B7B2B59}"/>
              </a:ext>
            </a:extLst>
          </p:cNvPr>
          <p:cNvSpPr txBox="1"/>
          <p:nvPr/>
        </p:nvSpPr>
        <p:spPr>
          <a:xfrm>
            <a:off x="1293347" y="3425607"/>
            <a:ext cx="2506981" cy="128975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LAG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 )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3C709-EDF1-B4D1-A5DB-60CAF03C367D}"/>
              </a:ext>
            </a:extLst>
          </p:cNvPr>
          <p:cNvSpPr txBox="1"/>
          <p:nvPr/>
        </p:nvSpPr>
        <p:spPr>
          <a:xfrm>
            <a:off x="2786743" y="2012840"/>
            <a:ext cx="6977743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Retrieves the previous row's value</a:t>
            </a:r>
            <a:r>
              <a:rPr lang="en-IN" dirty="0"/>
              <a:t>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E43D75-E76E-2049-A0E8-546CC743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23" y="3293251"/>
            <a:ext cx="2152950" cy="132261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6758CD-B25E-9CF4-B9EF-BB8C62F1D0CB}"/>
              </a:ext>
            </a:extLst>
          </p:cNvPr>
          <p:cNvCxnSpPr>
            <a:cxnSpLocks/>
          </p:cNvCxnSpPr>
          <p:nvPr/>
        </p:nvCxnSpPr>
        <p:spPr>
          <a:xfrm>
            <a:off x="4013018" y="4000592"/>
            <a:ext cx="69614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2758DA-00C7-6415-1588-B50E28106631}"/>
              </a:ext>
            </a:extLst>
          </p:cNvPr>
          <p:cNvCxnSpPr>
            <a:cxnSpLocks/>
          </p:cNvCxnSpPr>
          <p:nvPr/>
        </p:nvCxnSpPr>
        <p:spPr>
          <a:xfrm>
            <a:off x="7383780" y="4000592"/>
            <a:ext cx="74295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C9AFA353-DC1A-38F1-9360-B45648BF21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A3516-C2A4-6A0B-F015-AC6C9E1151B1}"/>
              </a:ext>
            </a:extLst>
          </p:cNvPr>
          <p:cNvSpPr txBox="1"/>
          <p:nvPr/>
        </p:nvSpPr>
        <p:spPr>
          <a:xfrm>
            <a:off x="195943" y="180965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8B030-8075-3C14-09E8-6CF6C799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674" y="2616204"/>
            <a:ext cx="1673082" cy="25746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440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C648-FD0F-7688-8F49-667C06A8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9FE3E-F19A-FC31-4019-F91681E670D0}"/>
              </a:ext>
            </a:extLst>
          </p:cNvPr>
          <p:cNvSpPr txBox="1"/>
          <p:nvPr/>
        </p:nvSpPr>
        <p:spPr>
          <a:xfrm>
            <a:off x="2607128" y="1097833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1F0F1-EE61-E63D-CA69-B54D09E40CC4}"/>
              </a:ext>
            </a:extLst>
          </p:cNvPr>
          <p:cNvSpPr txBox="1"/>
          <p:nvPr/>
        </p:nvSpPr>
        <p:spPr>
          <a:xfrm>
            <a:off x="1475012" y="3268402"/>
            <a:ext cx="2264231" cy="128975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LEAD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()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990FD-B8C4-86F5-5098-D19105458FCB}"/>
              </a:ext>
            </a:extLst>
          </p:cNvPr>
          <p:cNvSpPr txBox="1"/>
          <p:nvPr/>
        </p:nvSpPr>
        <p:spPr>
          <a:xfrm>
            <a:off x="2607128" y="2000256"/>
            <a:ext cx="6977743" cy="4587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Retrieves the next row's value.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AD23E0-1765-7CF0-648E-6503BCFB1EEC}"/>
              </a:ext>
            </a:extLst>
          </p:cNvPr>
          <p:cNvCxnSpPr>
            <a:cxnSpLocks/>
          </p:cNvCxnSpPr>
          <p:nvPr/>
        </p:nvCxnSpPr>
        <p:spPr>
          <a:xfrm>
            <a:off x="3955143" y="3996863"/>
            <a:ext cx="69614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19C028-85C0-A56E-B703-13BC131D83D5}"/>
              </a:ext>
            </a:extLst>
          </p:cNvPr>
          <p:cNvCxnSpPr>
            <a:cxnSpLocks/>
          </p:cNvCxnSpPr>
          <p:nvPr/>
        </p:nvCxnSpPr>
        <p:spPr>
          <a:xfrm>
            <a:off x="7649935" y="3977916"/>
            <a:ext cx="74295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4D6E64F-F40C-F99F-B9A1-D17A12675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69" y="3394131"/>
            <a:ext cx="2656115" cy="125366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51C53078-FE15-F3A4-97D4-4159BEB910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535BC-6935-11F0-1373-B0CFFB20C52E}"/>
              </a:ext>
            </a:extLst>
          </p:cNvPr>
          <p:cNvSpPr txBox="1"/>
          <p:nvPr/>
        </p:nvSpPr>
        <p:spPr>
          <a:xfrm>
            <a:off x="195942" y="203272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51DC8-7849-6E13-397F-9902F63AF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070" y="2810346"/>
            <a:ext cx="1879601" cy="23730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5545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0E1A-248E-1F9C-705A-E800AAB9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FBC4E-82D0-6465-86B9-C65F0A4A1F7B}"/>
              </a:ext>
            </a:extLst>
          </p:cNvPr>
          <p:cNvSpPr txBox="1"/>
          <p:nvPr/>
        </p:nvSpPr>
        <p:spPr>
          <a:xfrm>
            <a:off x="2786743" y="1067191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>
                <a:solidFill>
                  <a:schemeClr val="tx1"/>
                </a:solidFill>
              </a:rPr>
              <a:t>AGGREGATE FUNCTIONS</a:t>
            </a: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63829-9CC3-A096-B38E-DDA8CFFE8486}"/>
              </a:ext>
            </a:extLst>
          </p:cNvPr>
          <p:cNvSpPr txBox="1"/>
          <p:nvPr/>
        </p:nvSpPr>
        <p:spPr>
          <a:xfrm>
            <a:off x="1080135" y="2653201"/>
            <a:ext cx="3158490" cy="2951747"/>
          </a:xfrm>
          <a:prstGeom prst="rect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AGGREGATE_FUNCTION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4EB6B-E71F-064F-0B6A-3E1BDDBB52DC}"/>
              </a:ext>
            </a:extLst>
          </p:cNvPr>
          <p:cNvSpPr txBox="1"/>
          <p:nvPr/>
        </p:nvSpPr>
        <p:spPr>
          <a:xfrm>
            <a:off x="2786742" y="1762383"/>
            <a:ext cx="6977743" cy="7357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calculations across a window of rows without reducing the number of rows.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B38BF-0FB9-28C6-4AE1-4FA9387C69FA}"/>
              </a:ext>
            </a:extLst>
          </p:cNvPr>
          <p:cNvSpPr txBox="1"/>
          <p:nvPr/>
        </p:nvSpPr>
        <p:spPr>
          <a:xfrm>
            <a:off x="4362450" y="2943782"/>
            <a:ext cx="4160520" cy="6463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aggregate_function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= SUM(), AVG(), MIN(), MAX(), COUNT()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75D7C-610A-E4EE-9DBA-B491FEDB5DBA}"/>
              </a:ext>
            </a:extLst>
          </p:cNvPr>
          <p:cNvSpPr txBox="1"/>
          <p:nvPr/>
        </p:nvSpPr>
        <p:spPr>
          <a:xfrm>
            <a:off x="8770620" y="3016287"/>
            <a:ext cx="1116329" cy="458757"/>
          </a:xfrm>
          <a:prstGeom prst="rect">
            <a:avLst/>
          </a:prstGeom>
          <a:noFill/>
          <a:ln w="28575" cap="flat" cmpd="sng" algn="ctr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OVER(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1F953-1F2C-202C-1BC8-35C965A507B2}"/>
              </a:ext>
            </a:extLst>
          </p:cNvPr>
          <p:cNvSpPr txBox="1"/>
          <p:nvPr/>
        </p:nvSpPr>
        <p:spPr>
          <a:xfrm>
            <a:off x="6688997" y="3745644"/>
            <a:ext cx="3321777" cy="458293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BY &lt;expression&gt;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173AD-BAEC-C937-5766-630F6FFD3087}"/>
              </a:ext>
            </a:extLst>
          </p:cNvPr>
          <p:cNvSpPr txBox="1"/>
          <p:nvPr/>
        </p:nvSpPr>
        <p:spPr>
          <a:xfrm>
            <a:off x="4362450" y="4779731"/>
            <a:ext cx="606335" cy="45829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F29C87-D1DF-7F89-66BD-D0A180B33990}"/>
              </a:ext>
            </a:extLst>
          </p:cNvPr>
          <p:cNvSpPr txBox="1"/>
          <p:nvPr/>
        </p:nvSpPr>
        <p:spPr>
          <a:xfrm>
            <a:off x="6688997" y="4299640"/>
            <a:ext cx="4317820" cy="458757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BY &lt;expression&gt; [ASC|DESC ]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536F3A78-9ACE-2893-7792-9D930C5662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55DF9-FF71-683C-834A-8351D009051F}"/>
              </a:ext>
            </a:extLst>
          </p:cNvPr>
          <p:cNvSpPr txBox="1"/>
          <p:nvPr/>
        </p:nvSpPr>
        <p:spPr>
          <a:xfrm>
            <a:off x="195943" y="106404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30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752D-95E7-9B0A-1657-1BECD745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20198-2965-F19C-521B-0ADC15A288BD}"/>
              </a:ext>
            </a:extLst>
          </p:cNvPr>
          <p:cNvSpPr txBox="1"/>
          <p:nvPr/>
        </p:nvSpPr>
        <p:spPr>
          <a:xfrm>
            <a:off x="2786742" y="1063186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94F20-6A84-7F5C-3EC3-F31BD503FAB3}"/>
              </a:ext>
            </a:extLst>
          </p:cNvPr>
          <p:cNvSpPr txBox="1"/>
          <p:nvPr/>
        </p:nvSpPr>
        <p:spPr>
          <a:xfrm>
            <a:off x="1053192" y="2716861"/>
            <a:ext cx="3467101" cy="267474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AGGREGATE_FUNCTION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F8540-198D-7FB0-72F5-0794F3396075}"/>
              </a:ext>
            </a:extLst>
          </p:cNvPr>
          <p:cNvSpPr txBox="1"/>
          <p:nvPr/>
        </p:nvSpPr>
        <p:spPr>
          <a:xfrm>
            <a:off x="2550795" y="1701686"/>
            <a:ext cx="7482296" cy="7357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Calculates the total of a numeric column while preserving all rows in the     result.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29D8A7-5B5A-95FB-A5F2-F2CA92020B75}"/>
              </a:ext>
            </a:extLst>
          </p:cNvPr>
          <p:cNvCxnSpPr>
            <a:cxnSpLocks/>
          </p:cNvCxnSpPr>
          <p:nvPr/>
        </p:nvCxnSpPr>
        <p:spPr>
          <a:xfrm>
            <a:off x="4709160" y="4009869"/>
            <a:ext cx="37719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E5DCD84-126C-9032-6902-3CA47AE6C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962" y="3196281"/>
            <a:ext cx="2829582" cy="162717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71A068-BF92-2808-12C9-5C996B771A45}"/>
              </a:ext>
            </a:extLst>
          </p:cNvPr>
          <p:cNvCxnSpPr>
            <a:cxnSpLocks/>
          </p:cNvCxnSpPr>
          <p:nvPr/>
        </p:nvCxnSpPr>
        <p:spPr>
          <a:xfrm>
            <a:off x="8241156" y="4021299"/>
            <a:ext cx="43421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5F1979DF-6BE6-0792-8E45-AEC50E973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213" y="2942469"/>
            <a:ext cx="2296087" cy="22235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3657B579-0C98-F604-C8D3-3FDC9461C0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C8BA9-A16C-E98E-1779-83099C617B8D}"/>
              </a:ext>
            </a:extLst>
          </p:cNvPr>
          <p:cNvSpPr txBox="1"/>
          <p:nvPr/>
        </p:nvSpPr>
        <p:spPr>
          <a:xfrm>
            <a:off x="391887" y="171402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02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359B-7DD2-B36B-8935-889036DD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AFE18-7A37-328E-2150-7C3BA7ED495C}"/>
              </a:ext>
            </a:extLst>
          </p:cNvPr>
          <p:cNvSpPr txBox="1"/>
          <p:nvPr/>
        </p:nvSpPr>
        <p:spPr>
          <a:xfrm>
            <a:off x="2617085" y="1089079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5BAD3-0AA4-B060-33B5-0E57ED97BFDA}"/>
              </a:ext>
            </a:extLst>
          </p:cNvPr>
          <p:cNvSpPr txBox="1"/>
          <p:nvPr/>
        </p:nvSpPr>
        <p:spPr>
          <a:xfrm>
            <a:off x="1074323" y="2918849"/>
            <a:ext cx="3467101" cy="267474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AGGREGATE_FUNCTION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27F4C-B568-F2A4-B9BD-182C48B2238E}"/>
              </a:ext>
            </a:extLst>
          </p:cNvPr>
          <p:cNvSpPr txBox="1"/>
          <p:nvPr/>
        </p:nvSpPr>
        <p:spPr>
          <a:xfrm>
            <a:off x="2427513" y="1816082"/>
            <a:ext cx="7482296" cy="7357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Calculates the average of a numeric column while preserving all rows in the result</a:t>
            </a:r>
            <a:r>
              <a:rPr lang="en-IN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88653D-F337-8844-D0BC-63EC6A94D2CD}"/>
              </a:ext>
            </a:extLst>
          </p:cNvPr>
          <p:cNvCxnSpPr>
            <a:cxnSpLocks/>
          </p:cNvCxnSpPr>
          <p:nvPr/>
        </p:nvCxnSpPr>
        <p:spPr>
          <a:xfrm>
            <a:off x="4663440" y="4009869"/>
            <a:ext cx="42291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99D1BD-EA75-8DC2-2C21-757434A65F30}"/>
              </a:ext>
            </a:extLst>
          </p:cNvPr>
          <p:cNvCxnSpPr>
            <a:cxnSpLocks/>
          </p:cNvCxnSpPr>
          <p:nvPr/>
        </p:nvCxnSpPr>
        <p:spPr>
          <a:xfrm>
            <a:off x="7993986" y="4009869"/>
            <a:ext cx="434214" cy="814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117C1D5-D9EF-D2D8-D0F1-4978E8FFB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649" y="3157862"/>
            <a:ext cx="2632326" cy="172030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5CCB72-0000-4891-0E4E-A3EB9784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440" y="2789348"/>
            <a:ext cx="2503237" cy="24573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017E83B0-90D6-162F-2410-C643DDD56E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80789-ACFF-2F95-75FB-0F6E0D85946F}"/>
              </a:ext>
            </a:extLst>
          </p:cNvPr>
          <p:cNvSpPr txBox="1"/>
          <p:nvPr/>
        </p:nvSpPr>
        <p:spPr>
          <a:xfrm>
            <a:off x="268605" y="230454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28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3DA2-52D6-E38D-F719-F910EC94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9D453-4F9E-1A59-62A9-7438584681B4}"/>
              </a:ext>
            </a:extLst>
          </p:cNvPr>
          <p:cNvSpPr txBox="1"/>
          <p:nvPr/>
        </p:nvSpPr>
        <p:spPr>
          <a:xfrm>
            <a:off x="2786743" y="1066476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2CCEE-491F-C636-8A64-2539C257C9E2}"/>
              </a:ext>
            </a:extLst>
          </p:cNvPr>
          <p:cNvSpPr txBox="1"/>
          <p:nvPr/>
        </p:nvSpPr>
        <p:spPr>
          <a:xfrm>
            <a:off x="1086233" y="2913637"/>
            <a:ext cx="3467101" cy="267474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AGGREGATE_FUNCTION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8F01E-BB20-F8B4-BF26-795082A7A020}"/>
              </a:ext>
            </a:extLst>
          </p:cNvPr>
          <p:cNvSpPr txBox="1"/>
          <p:nvPr/>
        </p:nvSpPr>
        <p:spPr>
          <a:xfrm>
            <a:off x="2718289" y="1854428"/>
            <a:ext cx="7482296" cy="7357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minimum value in a window while preserving all rows in the result.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7F9085-66DA-82AE-046A-5090F5B3D524}"/>
              </a:ext>
            </a:extLst>
          </p:cNvPr>
          <p:cNvCxnSpPr>
            <a:cxnSpLocks/>
          </p:cNvCxnSpPr>
          <p:nvPr/>
        </p:nvCxnSpPr>
        <p:spPr>
          <a:xfrm>
            <a:off x="4663440" y="4015116"/>
            <a:ext cx="61722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B56EA8-5763-CDD7-B0DC-639D2B208CA3}"/>
              </a:ext>
            </a:extLst>
          </p:cNvPr>
          <p:cNvCxnSpPr>
            <a:cxnSpLocks/>
          </p:cNvCxnSpPr>
          <p:nvPr/>
        </p:nvCxnSpPr>
        <p:spPr>
          <a:xfrm>
            <a:off x="7999856" y="4054006"/>
            <a:ext cx="58280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6C4C95BE-7038-3AE5-48FC-CEAB03617A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BA622-7EC0-3C58-B56E-F8E8B4200829}"/>
              </a:ext>
            </a:extLst>
          </p:cNvPr>
          <p:cNvSpPr txBox="1"/>
          <p:nvPr/>
        </p:nvSpPr>
        <p:spPr>
          <a:xfrm>
            <a:off x="391887" y="70883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F5A5D-9D24-842E-92D6-4DED6A65B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401" y="3571804"/>
            <a:ext cx="2314898" cy="100979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EB7E63-F6C2-11E6-7A4E-4C74DB7FB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326" y="2538535"/>
            <a:ext cx="2400635" cy="29531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9906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38807-C026-73BB-4875-531A15BB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652225-5D4C-BA4E-6634-4617E598951E}"/>
              </a:ext>
            </a:extLst>
          </p:cNvPr>
          <p:cNvSpPr txBox="1"/>
          <p:nvPr/>
        </p:nvSpPr>
        <p:spPr>
          <a:xfrm>
            <a:off x="2786743" y="1251857"/>
            <a:ext cx="6977743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607D1-E3B5-66EC-DD39-4F598A29A752}"/>
              </a:ext>
            </a:extLst>
          </p:cNvPr>
          <p:cNvSpPr txBox="1"/>
          <p:nvPr/>
        </p:nvSpPr>
        <p:spPr>
          <a:xfrm>
            <a:off x="1029787" y="2925067"/>
            <a:ext cx="3467101" cy="2674748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AGGREGATE_FUNCTION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OVER (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PARTITION BY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ORDER BY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) AS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alias_name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03933-F63D-34F4-A199-80AD249042E6}"/>
              </a:ext>
            </a:extLst>
          </p:cNvPr>
          <p:cNvSpPr txBox="1"/>
          <p:nvPr/>
        </p:nvSpPr>
        <p:spPr>
          <a:xfrm>
            <a:off x="2427514" y="1996129"/>
            <a:ext cx="7482296" cy="7357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maximum value in a window while preserving all rows in the result.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BFB542-DF2E-CFB7-6C2E-9AAD024BE3C0}"/>
              </a:ext>
            </a:extLst>
          </p:cNvPr>
          <p:cNvCxnSpPr>
            <a:cxnSpLocks/>
          </p:cNvCxnSpPr>
          <p:nvPr/>
        </p:nvCxnSpPr>
        <p:spPr>
          <a:xfrm>
            <a:off x="4594860" y="4009869"/>
            <a:ext cx="61722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D3DD2E-9318-9FFB-862E-A8A4D6DDB69E}"/>
              </a:ext>
            </a:extLst>
          </p:cNvPr>
          <p:cNvCxnSpPr>
            <a:cxnSpLocks/>
          </p:cNvCxnSpPr>
          <p:nvPr/>
        </p:nvCxnSpPr>
        <p:spPr>
          <a:xfrm>
            <a:off x="7883016" y="4024433"/>
            <a:ext cx="582804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F740C4A6-5ECB-EF8D-ADD2-88DA07683A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C72955-8093-85E8-71D8-68C1FD0A733D}"/>
              </a:ext>
            </a:extLst>
          </p:cNvPr>
          <p:cNvSpPr txBox="1"/>
          <p:nvPr/>
        </p:nvSpPr>
        <p:spPr>
          <a:xfrm>
            <a:off x="268605" y="133370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9C9016-914A-DB24-906F-6463396A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057" y="3373643"/>
            <a:ext cx="2372056" cy="150494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D2125B-400B-E66C-763F-DE8843F28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723" y="2557378"/>
            <a:ext cx="2553056" cy="29341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5571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7B31-9850-28ED-D1E5-3D00ED55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E87EF-381F-0F30-24E5-4693D665B392}"/>
              </a:ext>
            </a:extLst>
          </p:cNvPr>
          <p:cNvSpPr txBox="1"/>
          <p:nvPr/>
        </p:nvSpPr>
        <p:spPr>
          <a:xfrm>
            <a:off x="3475536" y="1102885"/>
            <a:ext cx="6048647" cy="55109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61CFF9-8B23-2171-B9AA-A4FE314A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52" y="2650012"/>
            <a:ext cx="3730404" cy="11588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7FC429-99AB-9A35-97C6-9F7C399E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104" y="3335720"/>
            <a:ext cx="2162477" cy="16861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6E96C1-0127-D197-CC9E-1080F3E8D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110" y="3228927"/>
            <a:ext cx="2765075" cy="18997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55382C-EB77-1C28-8D9E-04377BC07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305" y="4266938"/>
            <a:ext cx="2745010" cy="12245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C415C8-E7DE-808E-8FA0-FAAFE11CFEAB}"/>
              </a:ext>
            </a:extLst>
          </p:cNvPr>
          <p:cNvSpPr txBox="1"/>
          <p:nvPr/>
        </p:nvSpPr>
        <p:spPr>
          <a:xfrm>
            <a:off x="1585305" y="5549044"/>
            <a:ext cx="2649494" cy="458757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Count() without partition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F09B7A-437D-0623-3925-C3E9D4B3B921}"/>
              </a:ext>
            </a:extLst>
          </p:cNvPr>
          <p:cNvSpPr txBox="1"/>
          <p:nvPr/>
        </p:nvSpPr>
        <p:spPr>
          <a:xfrm>
            <a:off x="7129701" y="5374142"/>
            <a:ext cx="2348540" cy="458757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Count() with partition 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D3C997-991D-8DC9-7139-467F1597B05E}"/>
              </a:ext>
            </a:extLst>
          </p:cNvPr>
          <p:cNvCxnSpPr/>
          <p:nvPr/>
        </p:nvCxnSpPr>
        <p:spPr>
          <a:xfrm>
            <a:off x="2957810" y="3866452"/>
            <a:ext cx="0" cy="3429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77D6CF-A396-AB4A-44D0-07D18BD2224A}"/>
              </a:ext>
            </a:extLst>
          </p:cNvPr>
          <p:cNvCxnSpPr>
            <a:cxnSpLocks/>
          </p:cNvCxnSpPr>
          <p:nvPr/>
        </p:nvCxnSpPr>
        <p:spPr>
          <a:xfrm>
            <a:off x="7827008" y="4102559"/>
            <a:ext cx="459131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0E9571-9303-15A0-91A1-AEC899B85BE1}"/>
              </a:ext>
            </a:extLst>
          </p:cNvPr>
          <p:cNvSpPr txBox="1"/>
          <p:nvPr/>
        </p:nvSpPr>
        <p:spPr>
          <a:xfrm>
            <a:off x="3579494" y="1759091"/>
            <a:ext cx="5840730" cy="735756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total number of rows in a window while preserving all rows in the result.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D251BEE-780A-1DDC-F72E-C6A56698431B}"/>
              </a:ext>
            </a:extLst>
          </p:cNvPr>
          <p:cNvSpPr/>
          <p:nvPr/>
        </p:nvSpPr>
        <p:spPr>
          <a:xfrm>
            <a:off x="0" y="0"/>
            <a:ext cx="12182112" cy="6858000"/>
          </a:xfrm>
          <a:prstGeom prst="fram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C6BE8-5924-4FED-F3F3-7BF195E23D44}"/>
              </a:ext>
            </a:extLst>
          </p:cNvPr>
          <p:cNvSpPr txBox="1"/>
          <p:nvPr/>
        </p:nvSpPr>
        <p:spPr>
          <a:xfrm>
            <a:off x="391887" y="87088"/>
            <a:ext cx="11800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Window Functions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71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707C-8BF4-A90C-F876-85E135EB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6EB38A-1718-E8CE-16A2-5CAC7CC2AE37}"/>
              </a:ext>
            </a:extLst>
          </p:cNvPr>
          <p:cNvSpPr/>
          <p:nvPr/>
        </p:nvSpPr>
        <p:spPr>
          <a:xfrm>
            <a:off x="1741715" y="1328056"/>
            <a:ext cx="9209314" cy="435428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isometricLeftDown"/>
              <a:lightRig rig="threePt" dir="t"/>
            </a:scene3d>
          </a:bodyPr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CFDBF-9382-66C6-F93C-3A3B0A6416B3}"/>
              </a:ext>
            </a:extLst>
          </p:cNvPr>
          <p:cNvSpPr txBox="1"/>
          <p:nvPr/>
        </p:nvSpPr>
        <p:spPr>
          <a:xfrm>
            <a:off x="3554185" y="2860322"/>
            <a:ext cx="4458847" cy="10127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tIns="90000" bIns="90000" rtlCol="0">
            <a:sp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1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17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9525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</a:spPr>
      <a:bodyPr wrap="square" tIns="90000" bIns="90000" rtlCol="0">
        <a:spAutoFit/>
      </a:bodyPr>
      <a:lstStyle>
        <a:defPPr algn="l">
          <a:defRPr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6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536</TotalTime>
  <Words>751</Words>
  <Application>Microsoft Office PowerPoint</Application>
  <PresentationFormat>Widescreen</PresentationFormat>
  <Paragraphs>157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Prasad</dc:creator>
  <cp:lastModifiedBy>Shiva Prasad</cp:lastModifiedBy>
  <cp:revision>2</cp:revision>
  <dcterms:created xsi:type="dcterms:W3CDTF">2026-07-16T03:28:39Z</dcterms:created>
  <dcterms:modified xsi:type="dcterms:W3CDTF">2026-07-24T17:06:37Z</dcterms:modified>
</cp:coreProperties>
</file>