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1" r:id="rId2"/>
    <p:sldId id="256" r:id="rId3"/>
    <p:sldId id="264" r:id="rId4"/>
    <p:sldId id="263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9" r:id="rId14"/>
    <p:sldId id="281" r:id="rId15"/>
    <p:sldId id="289" r:id="rId16"/>
    <p:sldId id="280" r:id="rId17"/>
    <p:sldId id="284" r:id="rId18"/>
    <p:sldId id="287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E1E"/>
    <a:srgbClr val="5B9B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FAA35-6808-4B22-98E8-C7979285D86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29E90-8508-443D-B81F-8FEFC3F3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4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AC31-0070-E8F6-8306-01562B4F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64AA9-F678-5BE5-D236-867178F9B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FA57-D1A8-AF1A-DE14-2B51C59F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44F5-68E4-7187-FB8D-34310F9C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89F8-A082-81D5-2D3D-5CEE73A4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7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F453-0D4F-FFAB-E7A2-09F21CCE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9D14-45B4-C09F-AA27-CA62286D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8D611-DC78-25CD-AA44-972157C8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7277-81F9-DFF2-A9A0-572E0C52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D3C76-FAE4-C152-E371-0C3D243F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84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9036-0F7B-03A8-E045-3FFDE77D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21A5-7671-3807-EC6C-D129DAE1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6E2B-4371-F393-8F99-61BE3F67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6C0A4-0EB0-6538-4F6E-42FBE1BB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6577-7CA9-B77B-14C2-D5099EAB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2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A932-8EEA-33B5-5A95-F1923AAB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33CD4-BF2B-324C-DBF0-48E5F823C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32ABB-725C-9737-6BCF-B5478D8C5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65416-3B93-BF75-5724-DD013F79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6788F-E1F0-417E-753E-FE82EEF3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05BD1-E546-655D-830F-4149BEB1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B9C4-97AA-F7AB-DC11-72712FA5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CA93C-111D-DD04-6B8B-5DC73010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27AB4-B2A8-2698-105E-9398C76D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70707-934B-914E-89A9-E92C27ACD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0340C-5E1F-7988-3325-3871F5FB7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7A7C7-AA16-D2D5-B29E-F99F1F69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1A3A9-F60F-BF9F-FFB1-5364AD04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42066-4EB8-2811-385E-9F186B9B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6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144E-B95E-545D-16D8-1606296C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5E764-6C72-4F9D-451E-8D21C5B9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1F5B0-60C3-22AC-4909-83AD1152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954E4-652C-B4B7-D732-40C765F1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8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B7E4E-8ED4-E7E9-0C09-1F858B87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C1FDC-D583-958A-00B8-3447AE73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BCA8-0362-39E2-BEE1-27F93B1C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5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A4DF-631D-7ECB-A69E-60CDB96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8447-AB11-21A4-EB93-5F44295B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D4904-3768-917F-7F8F-991AF8E9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308B2-2718-DA54-109D-903EA9DB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604E-0211-745D-F821-74917B12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8AFED-1448-420F-B11E-8A88C314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5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4B49-9652-E8D2-55E9-73482F57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EED72-D57B-6227-54E6-9739F8C31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4D7A0-3ED9-3CF6-2EAA-E9EED4D75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54B6A-AB13-6CCA-365C-DF426C07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0FF20-C393-65B1-21E7-43388114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FE7A-7FFA-102C-7CE7-FF642996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90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FCC1-AB3F-0591-DD56-DEEA2A07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671BE-789E-150B-85A2-196CD5D1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9311-9B9A-45EE-A743-B299383A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3932E-431B-3F50-06BA-1DC15E5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EF378-7A53-A359-3333-0C7C355D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1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9FB3C-1EC9-AA0C-DF22-87F5A78BF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43122-51B5-8766-B868-F63B45984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E1B8-DFA6-27D5-8A7A-C01EF8AE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EB2C-E07F-F30F-7B42-B0779A24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394ED-6502-26C5-6869-A4150054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F9562-B74C-B8F9-E5EC-0E47FFF6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AFEC4-4904-092D-C472-FD54E699D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2AB0-E648-6D1C-39A6-28E4A5626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4CA1-5AEC-478B-980A-A8030DD29D2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6A97-EBBA-6224-04D8-0F8DA4953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73E2F-3624-F1DC-5F1B-1A1042C13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78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074A-422C-C737-8889-1064243F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F47E9586-50FB-920E-C91D-E1868A2739AE}"/>
              </a:ext>
            </a:extLst>
          </p:cNvPr>
          <p:cNvSpPr/>
          <p:nvPr/>
        </p:nvSpPr>
        <p:spPr>
          <a:xfrm>
            <a:off x="8368392" y="4632678"/>
            <a:ext cx="2634345" cy="1234673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7284A-1037-C1EF-E178-B72818A7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63967" y="5867351"/>
            <a:ext cx="975629" cy="885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237F1-7D90-FC2D-9DEF-B3946672D8BE}"/>
              </a:ext>
            </a:extLst>
          </p:cNvPr>
          <p:cNvSpPr txBox="1"/>
          <p:nvPr/>
        </p:nvSpPr>
        <p:spPr>
          <a:xfrm>
            <a:off x="8490856" y="4759479"/>
            <a:ext cx="25118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sz="2400" b="1" dirty="0"/>
              <a:t>SIRAVENI SHIVANI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00D410C-0BE9-50B3-66B2-763D388B8C9A}"/>
              </a:ext>
            </a:extLst>
          </p:cNvPr>
          <p:cNvSpPr/>
          <p:nvPr/>
        </p:nvSpPr>
        <p:spPr>
          <a:xfrm>
            <a:off x="1513114" y="500743"/>
            <a:ext cx="8817427" cy="3875313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6045C-7671-A5FB-4863-B5CF682ECA12}"/>
              </a:ext>
            </a:extLst>
          </p:cNvPr>
          <p:cNvSpPr txBox="1"/>
          <p:nvPr/>
        </p:nvSpPr>
        <p:spPr>
          <a:xfrm>
            <a:off x="2352675" y="1689593"/>
            <a:ext cx="7138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DOCTOR-PATIENT RECORD MANAGEMENT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BB65F-2DF2-7C6E-FC53-2B5C5E6E0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3" y="5344884"/>
            <a:ext cx="1643113" cy="124286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CCABD49-AE9B-3220-C953-032041FBEAE2}"/>
              </a:ext>
            </a:extLst>
          </p:cNvPr>
          <p:cNvSpPr/>
          <p:nvPr/>
        </p:nvSpPr>
        <p:spPr>
          <a:xfrm flipV="1">
            <a:off x="1981198" y="393481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6B70DC-E11F-4E52-16B2-9B094C39FF28}"/>
              </a:ext>
            </a:extLst>
          </p:cNvPr>
          <p:cNvSpPr/>
          <p:nvPr/>
        </p:nvSpPr>
        <p:spPr>
          <a:xfrm flipV="1">
            <a:off x="1561474" y="450957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9DEB88-694D-6E4A-C2DE-B3FD9DAFBCE0}"/>
              </a:ext>
            </a:extLst>
          </p:cNvPr>
          <p:cNvSpPr/>
          <p:nvPr/>
        </p:nvSpPr>
        <p:spPr>
          <a:xfrm flipV="1">
            <a:off x="1189263" y="5002360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15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B0C2CB27-BA8D-0C3F-1632-EAB537BB19E4}"/>
              </a:ext>
            </a:extLst>
          </p:cNvPr>
          <p:cNvSpPr/>
          <p:nvPr/>
        </p:nvSpPr>
        <p:spPr>
          <a:xfrm>
            <a:off x="542924" y="353695"/>
            <a:ext cx="6293305" cy="262263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query to find the city with the highest number of patient visits</a:t>
            </a:r>
            <a:r>
              <a:rPr lang="en-IN" sz="2800" b="1" dirty="0">
                <a:solidFill>
                  <a:schemeClr val="tx1"/>
                </a:solidFill>
              </a:rPr>
              <a:t>.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EA66F6-6CB5-F2CE-F6F3-8A28EF757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FF083B2-57DB-914E-1230-CAE4D295D6A4}"/>
              </a:ext>
            </a:extLst>
          </p:cNvPr>
          <p:cNvSpPr/>
          <p:nvPr/>
        </p:nvSpPr>
        <p:spPr>
          <a:xfrm flipV="1">
            <a:off x="1017815" y="489618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BFA76-A110-6A9B-53D7-4E226ACE3DF2}"/>
              </a:ext>
            </a:extLst>
          </p:cNvPr>
          <p:cNvSpPr/>
          <p:nvPr/>
        </p:nvSpPr>
        <p:spPr>
          <a:xfrm flipV="1">
            <a:off x="1692727" y="34428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C06123-5683-6C3E-C770-64D3F8626491}"/>
              </a:ext>
            </a:extLst>
          </p:cNvPr>
          <p:cNvSpPr/>
          <p:nvPr/>
        </p:nvSpPr>
        <p:spPr>
          <a:xfrm flipV="1">
            <a:off x="1341666" y="419933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FE2126E-E42F-86B2-94F5-AB7B798EC8A2}"/>
              </a:ext>
            </a:extLst>
          </p:cNvPr>
          <p:cNvSpPr/>
          <p:nvPr/>
        </p:nvSpPr>
        <p:spPr>
          <a:xfrm>
            <a:off x="7500257" y="415200"/>
            <a:ext cx="437877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0DED449-9B50-6210-18DC-12CC6035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102" y="732643"/>
            <a:ext cx="3950155" cy="2783443"/>
          </a:xfrm>
          <a:prstGeom prst="round2DiagRect">
            <a:avLst>
              <a:gd name="adj1" fmla="val 16667"/>
              <a:gd name="adj2" fmla="val 922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BBBBD-D7A1-A3CF-5CAC-8B07F2B4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985" y="3745705"/>
            <a:ext cx="3701141" cy="14472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2">
                <a:lumMod val="5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242489-83A3-4139-391E-8825E46645A1}"/>
              </a:ext>
            </a:extLst>
          </p:cNvPr>
          <p:cNvSpPr txBox="1"/>
          <p:nvPr/>
        </p:nvSpPr>
        <p:spPr>
          <a:xfrm>
            <a:off x="2144483" y="5616561"/>
            <a:ext cx="5105403" cy="646331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Delhi is the most active city in terms of hospital visits, with a total of 6 appointments.</a:t>
            </a:r>
          </a:p>
        </p:txBody>
      </p:sp>
    </p:spTree>
    <p:extLst>
      <p:ext uri="{BB962C8B-B14F-4D97-AF65-F5344CB8AC3E}">
        <p14:creationId xmlns:p14="http://schemas.microsoft.com/office/powerpoint/2010/main" val="20127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DE4B-4BFA-AAB2-26DC-809CE763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EBA5DA70-77C1-43DD-AD1A-3EC25464D7D5}"/>
              </a:ext>
            </a:extLst>
          </p:cNvPr>
          <p:cNvSpPr/>
          <p:nvPr/>
        </p:nvSpPr>
        <p:spPr>
          <a:xfrm>
            <a:off x="582499" y="353599"/>
            <a:ext cx="6406130" cy="2560686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Find the department that has the highest number of appointments where the consultation fee is less than ₹500.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E6B82E-080C-07C6-CF9A-851652D7C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9A98CF-3294-FAC6-54D7-E325333D96FE}"/>
              </a:ext>
            </a:extLst>
          </p:cNvPr>
          <p:cNvSpPr/>
          <p:nvPr/>
        </p:nvSpPr>
        <p:spPr>
          <a:xfrm flipV="1">
            <a:off x="820959" y="4732102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3173BC-0CF0-AE17-CFC2-94833F3D93E8}"/>
              </a:ext>
            </a:extLst>
          </p:cNvPr>
          <p:cNvSpPr/>
          <p:nvPr/>
        </p:nvSpPr>
        <p:spPr>
          <a:xfrm flipV="1">
            <a:off x="1489672" y="3150886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CEE65CD-1A8A-51A2-1C57-F74403922A14}"/>
              </a:ext>
            </a:extLst>
          </p:cNvPr>
          <p:cNvSpPr/>
          <p:nvPr/>
        </p:nvSpPr>
        <p:spPr>
          <a:xfrm flipV="1">
            <a:off x="1144810" y="393951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6969DB1B-A568-EFC8-4CFE-33998F3310D2}"/>
              </a:ext>
            </a:extLst>
          </p:cNvPr>
          <p:cNvSpPr/>
          <p:nvPr/>
        </p:nvSpPr>
        <p:spPr>
          <a:xfrm>
            <a:off x="7494235" y="388866"/>
            <a:ext cx="4384800" cy="3529991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36B621-DFBA-7236-E540-68F8FEEE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87" y="640161"/>
            <a:ext cx="3839714" cy="27752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85C0B4-FCA0-2026-975E-A62E68202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593" y="3536453"/>
            <a:ext cx="4648849" cy="168132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8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perspective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E1853-A922-97EA-29F2-A920C0B653FA}"/>
              </a:ext>
            </a:extLst>
          </p:cNvPr>
          <p:cNvSpPr txBox="1"/>
          <p:nvPr/>
        </p:nvSpPr>
        <p:spPr>
          <a:xfrm>
            <a:off x="2280445" y="5545804"/>
            <a:ext cx="5489342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en-IN" sz="1800" dirty="0"/>
              <a:t>The General department recorded 8 appointments with consultation fees below ₹500, making it the department with the highest number of low-cost consultations.</a:t>
            </a:r>
          </a:p>
        </p:txBody>
      </p:sp>
    </p:spTree>
    <p:extLst>
      <p:ext uri="{BB962C8B-B14F-4D97-AF65-F5344CB8AC3E}">
        <p14:creationId xmlns:p14="http://schemas.microsoft.com/office/powerpoint/2010/main" val="266582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5A4B-7BDD-A6F5-E305-0D7DBB30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330363E-F760-35D0-F776-32E1D25F0840}"/>
              </a:ext>
            </a:extLst>
          </p:cNvPr>
          <p:cNvSpPr/>
          <p:nvPr/>
        </p:nvSpPr>
        <p:spPr>
          <a:xfrm>
            <a:off x="694210" y="160987"/>
            <a:ext cx="6414161" cy="2677578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assign ROW_NUMBER(), RANK(), and DENSE_RANK() based on the consultation fee in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227A0F-C8E1-64D7-4C39-32BDD4BBE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53D2377-110E-CC29-5EFB-EAB00AF5658B}"/>
              </a:ext>
            </a:extLst>
          </p:cNvPr>
          <p:cNvSpPr/>
          <p:nvPr/>
        </p:nvSpPr>
        <p:spPr>
          <a:xfrm flipV="1">
            <a:off x="694210" y="4774916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3C8F1D-2A5B-702A-FD15-2EB517578EC9}"/>
              </a:ext>
            </a:extLst>
          </p:cNvPr>
          <p:cNvSpPr/>
          <p:nvPr/>
        </p:nvSpPr>
        <p:spPr>
          <a:xfrm flipV="1">
            <a:off x="1377044" y="317294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EA4684-ECEA-E8A5-04A6-6F001B49972E}"/>
              </a:ext>
            </a:extLst>
          </p:cNvPr>
          <p:cNvSpPr/>
          <p:nvPr/>
        </p:nvSpPr>
        <p:spPr>
          <a:xfrm flipV="1">
            <a:off x="999370" y="400168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7572D134-FD77-42CD-E339-240F6FAB8BE3}"/>
              </a:ext>
            </a:extLst>
          </p:cNvPr>
          <p:cNvSpPr/>
          <p:nvPr/>
        </p:nvSpPr>
        <p:spPr>
          <a:xfrm>
            <a:off x="7665395" y="213250"/>
            <a:ext cx="4195536" cy="3084443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BE4E21-E025-AE40-B87D-18395B745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679" y="485851"/>
            <a:ext cx="3686968" cy="23527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AD8C69-89DB-5897-94D6-0A22213C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46" y="3131094"/>
            <a:ext cx="4504928" cy="26304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685427-5AEF-D551-C059-76F33C2C9707}"/>
              </a:ext>
            </a:extLst>
          </p:cNvPr>
          <p:cNvSpPr txBox="1"/>
          <p:nvPr/>
        </p:nvSpPr>
        <p:spPr>
          <a:xfrm>
            <a:off x="1807029" y="5998419"/>
            <a:ext cx="9568542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ROW_NUMBER() </a:t>
            </a:r>
            <a:r>
              <a:rPr lang="en-IN" dirty="0"/>
              <a:t>gives unique positions, </a:t>
            </a:r>
            <a:r>
              <a:rPr lang="en-IN" dirty="0">
                <a:solidFill>
                  <a:schemeClr val="accent1"/>
                </a:solidFill>
              </a:rPr>
              <a:t>RANK() </a:t>
            </a:r>
            <a:r>
              <a:rPr lang="en-IN" dirty="0"/>
              <a:t>allows ties with gaps, and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DENSE_RANK() </a:t>
            </a:r>
            <a:r>
              <a:rPr lang="en-IN" dirty="0"/>
              <a:t>allows ties without gaps, making them useful for different ranking scenarios.</a:t>
            </a:r>
          </a:p>
        </p:txBody>
      </p:sp>
    </p:spTree>
    <p:extLst>
      <p:ext uri="{BB962C8B-B14F-4D97-AF65-F5344CB8AC3E}">
        <p14:creationId xmlns:p14="http://schemas.microsoft.com/office/powerpoint/2010/main" val="49274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7B11-DEDD-3D05-9F6C-2E2027F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370AB73-06F4-7C08-0635-41BE4E4DC54E}"/>
              </a:ext>
            </a:extLst>
          </p:cNvPr>
          <p:cNvSpPr/>
          <p:nvPr/>
        </p:nvSpPr>
        <p:spPr>
          <a:xfrm>
            <a:off x="413657" y="180728"/>
            <a:ext cx="6411686" cy="246743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show the number of appointments in each month for every department.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7A4626-9935-0D25-6B08-E5E813313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4295571-66FA-4B35-1409-ADDDC365677C}"/>
              </a:ext>
            </a:extLst>
          </p:cNvPr>
          <p:cNvSpPr/>
          <p:nvPr/>
        </p:nvSpPr>
        <p:spPr>
          <a:xfrm flipV="1">
            <a:off x="744625" y="4922131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CAFD50-6AFA-39BF-3D1E-BE032C005EF0}"/>
              </a:ext>
            </a:extLst>
          </p:cNvPr>
          <p:cNvSpPr/>
          <p:nvPr/>
        </p:nvSpPr>
        <p:spPr>
          <a:xfrm flipV="1">
            <a:off x="1432076" y="313376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BDACBB-5BD9-F18D-11F6-8DDDDA3DF121}"/>
              </a:ext>
            </a:extLst>
          </p:cNvPr>
          <p:cNvSpPr/>
          <p:nvPr/>
        </p:nvSpPr>
        <p:spPr>
          <a:xfrm flipV="1">
            <a:off x="1096006" y="404920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6087BE7-E0DE-F0AF-A058-3D2FAE58C16D}"/>
              </a:ext>
            </a:extLst>
          </p:cNvPr>
          <p:cNvSpPr/>
          <p:nvPr/>
        </p:nvSpPr>
        <p:spPr>
          <a:xfrm>
            <a:off x="8001000" y="207372"/>
            <a:ext cx="3951515" cy="347200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532DE-E0D1-DC51-BD1A-DE945B45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200" y="457760"/>
            <a:ext cx="3475113" cy="25789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60C989-739A-3E05-6DB9-5D13DF382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03" y="2900384"/>
            <a:ext cx="2603042" cy="28847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2A22A-FB5F-369A-06CA-C9D7193CD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645" y="2815854"/>
            <a:ext cx="2458135" cy="29692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2F5B3-067B-CCE5-BE8B-56F744132C75}"/>
              </a:ext>
            </a:extLst>
          </p:cNvPr>
          <p:cNvSpPr txBox="1"/>
          <p:nvPr/>
        </p:nvSpPr>
        <p:spPr>
          <a:xfrm>
            <a:off x="2134203" y="6004298"/>
            <a:ext cx="8522642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result provides a monthly breakdown of appointments for each department, helping identify departments with higher patient activity.</a:t>
            </a:r>
          </a:p>
        </p:txBody>
      </p:sp>
    </p:spTree>
    <p:extLst>
      <p:ext uri="{BB962C8B-B14F-4D97-AF65-F5344CB8AC3E}">
        <p14:creationId xmlns:p14="http://schemas.microsoft.com/office/powerpoint/2010/main" val="145466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5186-A56A-62CF-F1AA-BB18D766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7A13CB34-58BA-D4DA-6706-CFD35C4E1EB4}"/>
              </a:ext>
            </a:extLst>
          </p:cNvPr>
          <p:cNvSpPr/>
          <p:nvPr/>
        </p:nvSpPr>
        <p:spPr>
          <a:xfrm>
            <a:off x="312963" y="210087"/>
            <a:ext cx="7154101" cy="355055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total, average, maximum, minimum consultation fee, and total appointments for each doctor in each department. Display the result in descending order of total appointments.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2BE569-829C-A4F8-E2A1-F2E30B004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65B1AAD-4D53-CB89-D3BB-BA924989F9C0}"/>
              </a:ext>
            </a:extLst>
          </p:cNvPr>
          <p:cNvSpPr/>
          <p:nvPr/>
        </p:nvSpPr>
        <p:spPr>
          <a:xfrm flipV="1">
            <a:off x="1045029" y="4924658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21E875-BBB2-391C-9560-DA8B3855C8DF}"/>
              </a:ext>
            </a:extLst>
          </p:cNvPr>
          <p:cNvSpPr/>
          <p:nvPr/>
        </p:nvSpPr>
        <p:spPr>
          <a:xfrm flipV="1">
            <a:off x="1728108" y="38144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8EEF78-BF16-8C04-5D84-4C5ED209D421}"/>
              </a:ext>
            </a:extLst>
          </p:cNvPr>
          <p:cNvSpPr/>
          <p:nvPr/>
        </p:nvSpPr>
        <p:spPr>
          <a:xfrm flipV="1">
            <a:off x="1409702" y="434762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391915C-4223-7D57-2CBD-6ACC3A713030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17DEB-7B02-C217-41C3-087306E6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034" y="607707"/>
            <a:ext cx="3844470" cy="26919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866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7FB0-9DB0-9AB1-EFEC-557D47BC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03CA28B7-4A83-5503-53F6-EB3AE2EC95CC}"/>
              </a:ext>
            </a:extLst>
          </p:cNvPr>
          <p:cNvSpPr/>
          <p:nvPr/>
        </p:nvSpPr>
        <p:spPr>
          <a:xfrm flipH="1">
            <a:off x="588858" y="446145"/>
            <a:ext cx="10971770" cy="5900226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D058A-64C9-1542-2036-BC5ACDE0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0" y="586410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B84883-E538-EEE5-EBD6-D8AC96951E3D}"/>
              </a:ext>
            </a:extLst>
          </p:cNvPr>
          <p:cNvSpPr txBox="1"/>
          <p:nvPr/>
        </p:nvSpPr>
        <p:spPr>
          <a:xfrm>
            <a:off x="748480" y="688310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E3A79E-35D2-3242-A98D-B938CBC8699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47896-B7C1-10D8-59DE-EC0DE90D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4" y="1366726"/>
            <a:ext cx="2690376" cy="34597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C1D88-E52E-FC3E-9BDB-52D828316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298" y="1323488"/>
            <a:ext cx="2847989" cy="34597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C1884-7E3C-9DC3-023D-AB5565240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450" y="1323488"/>
            <a:ext cx="4031790" cy="15432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FA5625-8487-190B-B362-F11D1F23BD2D}"/>
              </a:ext>
            </a:extLst>
          </p:cNvPr>
          <p:cNvSpPr txBox="1"/>
          <p:nvPr/>
        </p:nvSpPr>
        <p:spPr>
          <a:xfrm>
            <a:off x="1774371" y="5182103"/>
            <a:ext cx="6291943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query helps identify the busiest doctors and compare their consultation fee details across different departments.</a:t>
            </a:r>
          </a:p>
        </p:txBody>
      </p:sp>
    </p:spTree>
    <p:extLst>
      <p:ext uri="{BB962C8B-B14F-4D97-AF65-F5344CB8AC3E}">
        <p14:creationId xmlns:p14="http://schemas.microsoft.com/office/powerpoint/2010/main" val="326587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8CA-2098-2515-1108-48151C8B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511E9560-CCB1-F06C-63D3-27723A42282B}"/>
              </a:ext>
            </a:extLst>
          </p:cNvPr>
          <p:cNvSpPr/>
          <p:nvPr/>
        </p:nvSpPr>
        <p:spPr>
          <a:xfrm>
            <a:off x="411567" y="185057"/>
            <a:ext cx="6141634" cy="241387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2nd and 4th highest consultation fees in each department from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6D5A00-39B6-1E0E-E4B2-304ED6B0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D53365-4C86-EF8B-AE42-8994DFB80C3C}"/>
              </a:ext>
            </a:extLst>
          </p:cNvPr>
          <p:cNvSpPr/>
          <p:nvPr/>
        </p:nvSpPr>
        <p:spPr>
          <a:xfrm flipV="1">
            <a:off x="842171" y="482420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94E440B-4351-0D38-1624-25970DA0E62B}"/>
              </a:ext>
            </a:extLst>
          </p:cNvPr>
          <p:cNvSpPr/>
          <p:nvPr/>
        </p:nvSpPr>
        <p:spPr>
          <a:xfrm flipV="1">
            <a:off x="1487406" y="296017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BE774-03EE-4C9F-C8F9-763E3BD1CEDD}"/>
              </a:ext>
            </a:extLst>
          </p:cNvPr>
          <p:cNvSpPr/>
          <p:nvPr/>
        </p:nvSpPr>
        <p:spPr>
          <a:xfrm flipV="1">
            <a:off x="1123914" y="389783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301B00B-AD18-8F01-9AEB-05C7577CEF6A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E922F-29ED-DACB-0235-01FA212E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55" y="673563"/>
            <a:ext cx="3744227" cy="2685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A32789-4605-545B-B7B3-49F28A143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057" y="3148138"/>
            <a:ext cx="2242755" cy="33913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86366-162F-E5D0-A22E-C8ABA591F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79" y="3463806"/>
            <a:ext cx="2242755" cy="12860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C335B-9949-2195-62D3-C723578F3EBE}"/>
              </a:ext>
            </a:extLst>
          </p:cNvPr>
          <p:cNvSpPr txBox="1"/>
          <p:nvPr/>
        </p:nvSpPr>
        <p:spPr>
          <a:xfrm>
            <a:off x="5037141" y="5313474"/>
            <a:ext cx="2646360" cy="120032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It helps identify important consultation fee levels by ranking fees within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342136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452C-8938-B4BC-5C22-48525998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D4505FA-F343-66DA-0039-BB46444C18D1}"/>
              </a:ext>
            </a:extLst>
          </p:cNvPr>
          <p:cNvSpPr/>
          <p:nvPr/>
        </p:nvSpPr>
        <p:spPr>
          <a:xfrm>
            <a:off x="664029" y="210087"/>
            <a:ext cx="6117771" cy="2730776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all female patients from each city who were born in the year 1991.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2F73317-F97D-D2C6-F8DE-5EF52C531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0B68D5DB-F5E1-5BD1-0A40-96D09F0CEFE5}"/>
              </a:ext>
            </a:extLst>
          </p:cNvPr>
          <p:cNvSpPr/>
          <p:nvPr/>
        </p:nvSpPr>
        <p:spPr>
          <a:xfrm flipV="1">
            <a:off x="895665" y="48435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E3204-720B-553A-36FB-777D0E739460}"/>
              </a:ext>
            </a:extLst>
          </p:cNvPr>
          <p:cNvSpPr/>
          <p:nvPr/>
        </p:nvSpPr>
        <p:spPr>
          <a:xfrm flipV="1">
            <a:off x="1600198" y="3254998"/>
            <a:ext cx="702127" cy="301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919574-3F72-9B47-C19B-3C298AA6720D}"/>
              </a:ext>
            </a:extLst>
          </p:cNvPr>
          <p:cNvSpPr/>
          <p:nvPr/>
        </p:nvSpPr>
        <p:spPr>
          <a:xfrm flipV="1">
            <a:off x="1251857" y="410818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AFC4ED5-82BC-15C3-458D-872E7BA65DB9}"/>
              </a:ext>
            </a:extLst>
          </p:cNvPr>
          <p:cNvSpPr/>
          <p:nvPr/>
        </p:nvSpPr>
        <p:spPr>
          <a:xfrm>
            <a:off x="7683500" y="415200"/>
            <a:ext cx="433069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6F16E-0B25-2F6E-8B9D-B6E9081E4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73" y="642056"/>
            <a:ext cx="3687960" cy="29139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43E794-6B9A-4E64-6498-EB91B0679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543" y="3940076"/>
            <a:ext cx="4071257" cy="9035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7030-0B90-EEAD-9CBE-194BF7E5FDC4}"/>
              </a:ext>
            </a:extLst>
          </p:cNvPr>
          <p:cNvSpPr txBox="1"/>
          <p:nvPr/>
        </p:nvSpPr>
        <p:spPr>
          <a:xfrm>
            <a:off x="2302325" y="5318294"/>
            <a:ext cx="5381175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list of female patients born in 1991, making it easy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patient records based on gender and birth year.</a:t>
            </a:r>
          </a:p>
        </p:txBody>
      </p:sp>
    </p:spTree>
    <p:extLst>
      <p:ext uri="{BB962C8B-B14F-4D97-AF65-F5344CB8AC3E}">
        <p14:creationId xmlns:p14="http://schemas.microsoft.com/office/powerpoint/2010/main" val="214469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3F2D-E0D1-C221-547E-746D628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55A51E1-754A-D055-C118-B63ACFB4DC32}"/>
              </a:ext>
            </a:extLst>
          </p:cNvPr>
          <p:cNvSpPr/>
          <p:nvPr/>
        </p:nvSpPr>
        <p:spPr>
          <a:xfrm>
            <a:off x="312963" y="168272"/>
            <a:ext cx="5989866" cy="2542272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longest gap (in days) between two consecutive appointments for each patient.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6DE712-975A-DCD1-FA9A-C195A8F0A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69C41CC-3D22-FBDC-8E76-22A3812E3F04}"/>
              </a:ext>
            </a:extLst>
          </p:cNvPr>
          <p:cNvSpPr/>
          <p:nvPr/>
        </p:nvSpPr>
        <p:spPr>
          <a:xfrm flipV="1">
            <a:off x="897025" y="4544725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BCA36F-F92B-41DC-90DE-1D2AD7A7FDCE}"/>
              </a:ext>
            </a:extLst>
          </p:cNvPr>
          <p:cNvSpPr/>
          <p:nvPr/>
        </p:nvSpPr>
        <p:spPr>
          <a:xfrm flipV="1">
            <a:off x="1313973" y="28817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E49997-DADF-8964-B9CB-AFA3C485B9CE}"/>
              </a:ext>
            </a:extLst>
          </p:cNvPr>
          <p:cNvSpPr/>
          <p:nvPr/>
        </p:nvSpPr>
        <p:spPr>
          <a:xfrm flipV="1">
            <a:off x="1079931" y="371244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8B1E7EE-63BF-0984-5101-B4EC82823047}"/>
              </a:ext>
            </a:extLst>
          </p:cNvPr>
          <p:cNvSpPr/>
          <p:nvPr/>
        </p:nvSpPr>
        <p:spPr>
          <a:xfrm>
            <a:off x="7500257" y="415200"/>
            <a:ext cx="4378780" cy="316620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AA4DF-A206-6644-7BAB-F2DEDDDA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51680"/>
            <a:ext cx="3831771" cy="21320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C96A48-24B3-3AED-EA8D-D3669C8A9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867" y="3006497"/>
            <a:ext cx="1934246" cy="27142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FA75E-553E-6AD4-F959-9E581C3AD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980" y="2635303"/>
            <a:ext cx="1862441" cy="30243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7B7DC-2077-9957-AD50-51B9DD023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288" y="3791957"/>
            <a:ext cx="1746876" cy="1962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005DAF-2906-7025-C9FA-F7B8182A1CC0}"/>
              </a:ext>
            </a:extLst>
          </p:cNvPr>
          <p:cNvSpPr txBox="1"/>
          <p:nvPr/>
        </p:nvSpPr>
        <p:spPr>
          <a:xfrm>
            <a:off x="2016100" y="5964938"/>
            <a:ext cx="8260015" cy="646331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maximum number of days between consecutive appointments for each patient, helping track the time interval between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293038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DD76-79AE-1D77-9A96-9D99EC38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E417978-C465-4F02-1C8B-1F94BB609FB3}"/>
              </a:ext>
            </a:extLst>
          </p:cNvPr>
          <p:cNvSpPr/>
          <p:nvPr/>
        </p:nvSpPr>
        <p:spPr>
          <a:xfrm>
            <a:off x="664029" y="210087"/>
            <a:ext cx="5431971" cy="2293627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patients whose age is between 20 and 30 years.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FAC4222-2F4A-3D7E-70F7-E034FEBC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1EDA3D3-22DF-74E1-F8C2-A7FC8A1763CD}"/>
              </a:ext>
            </a:extLst>
          </p:cNvPr>
          <p:cNvSpPr/>
          <p:nvPr/>
        </p:nvSpPr>
        <p:spPr>
          <a:xfrm flipV="1">
            <a:off x="1069520" y="47261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F321FE-D0F7-1174-F9D4-F34DC896979C}"/>
              </a:ext>
            </a:extLst>
          </p:cNvPr>
          <p:cNvSpPr/>
          <p:nvPr/>
        </p:nvSpPr>
        <p:spPr>
          <a:xfrm flipV="1">
            <a:off x="1728108" y="28919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B41510-7652-E48B-33EA-34527C78B8A7}"/>
              </a:ext>
            </a:extLst>
          </p:cNvPr>
          <p:cNvSpPr/>
          <p:nvPr/>
        </p:nvSpPr>
        <p:spPr>
          <a:xfrm flipV="1">
            <a:off x="1405618" y="380650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A34EC61-7A63-E54E-254A-BB9CC366F1FF}"/>
              </a:ext>
            </a:extLst>
          </p:cNvPr>
          <p:cNvSpPr/>
          <p:nvPr/>
        </p:nvSpPr>
        <p:spPr>
          <a:xfrm>
            <a:off x="7417256" y="255948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D7CA4-5F51-9E8D-EFF4-DB0DAA81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82" y="533904"/>
            <a:ext cx="3668484" cy="262258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5A2184-EBA7-D65D-1007-A9FE1A837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761" y="2891963"/>
            <a:ext cx="3191829" cy="26363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BA1893-29EC-BD62-279D-70D908340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703" y="5761964"/>
            <a:ext cx="3191830" cy="8859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B50135-F04A-2A3D-A6C1-159F2A5D64C2}"/>
              </a:ext>
            </a:extLst>
          </p:cNvPr>
          <p:cNvSpPr txBox="1"/>
          <p:nvPr/>
        </p:nvSpPr>
        <p:spPr>
          <a:xfrm>
            <a:off x="6297640" y="4462399"/>
            <a:ext cx="2766284" cy="147732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retrieves all patients aged between 20 and 30 years, making it easier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patients within a specific age group.</a:t>
            </a:r>
          </a:p>
        </p:txBody>
      </p:sp>
    </p:spTree>
    <p:extLst>
      <p:ext uri="{BB962C8B-B14F-4D97-AF65-F5344CB8AC3E}">
        <p14:creationId xmlns:p14="http://schemas.microsoft.com/office/powerpoint/2010/main" val="139653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9EE6-B908-B256-5CCB-2325FF7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570E293-A035-76DC-4DD3-54E369352C9E}"/>
              </a:ext>
            </a:extLst>
          </p:cNvPr>
          <p:cNvSpPr/>
          <p:nvPr/>
        </p:nvSpPr>
        <p:spPr>
          <a:xfrm>
            <a:off x="664029" y="210087"/>
            <a:ext cx="5431971" cy="2054142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youngest patient in each city using a subquery.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5B83A-3230-CDEC-8281-37A4D8129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FEC6AFF-5DBE-E0C5-4E21-C3F86919EA2F}"/>
              </a:ext>
            </a:extLst>
          </p:cNvPr>
          <p:cNvSpPr/>
          <p:nvPr/>
        </p:nvSpPr>
        <p:spPr>
          <a:xfrm flipV="1">
            <a:off x="783773" y="451348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A667D4-9D12-DDC1-9FB8-D2F9B6A05D30}"/>
              </a:ext>
            </a:extLst>
          </p:cNvPr>
          <p:cNvSpPr/>
          <p:nvPr/>
        </p:nvSpPr>
        <p:spPr>
          <a:xfrm flipV="1">
            <a:off x="1413782" y="2478049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278509-B9E9-8FC5-46CC-10AAA360E7C7}"/>
              </a:ext>
            </a:extLst>
          </p:cNvPr>
          <p:cNvSpPr/>
          <p:nvPr/>
        </p:nvSpPr>
        <p:spPr>
          <a:xfrm flipV="1">
            <a:off x="1107624" y="3499565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7BFF08E-AE24-2A0C-E3AA-71694852A1B0}"/>
              </a:ext>
            </a:extLst>
          </p:cNvPr>
          <p:cNvSpPr/>
          <p:nvPr/>
        </p:nvSpPr>
        <p:spPr>
          <a:xfrm>
            <a:off x="7393668" y="212274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E7D1A-54E7-4A3A-53CA-5BB256BA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219" y="464458"/>
            <a:ext cx="3615871" cy="2654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D460F9-9400-A3E9-ABDE-30E22B45A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237" y="2674828"/>
            <a:ext cx="2163104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48469-A7F6-61F7-E8DC-A6393B709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76" y="2610311"/>
            <a:ext cx="2353581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96AAE-46ED-4473-0391-58AA54C0DE9A}"/>
              </a:ext>
            </a:extLst>
          </p:cNvPr>
          <p:cNvSpPr txBox="1"/>
          <p:nvPr/>
        </p:nvSpPr>
        <p:spPr>
          <a:xfrm flipH="1">
            <a:off x="1961696" y="5973996"/>
            <a:ext cx="574538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It uses a subquery to identify the youngest patient in each city by selecting the latest date of birth.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8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353A-38F9-7235-319D-AA75A9E6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923A19C4-27D1-6C65-CB5C-5B73B8360763}"/>
              </a:ext>
            </a:extLst>
          </p:cNvPr>
          <p:cNvSpPr/>
          <p:nvPr/>
        </p:nvSpPr>
        <p:spPr>
          <a:xfrm>
            <a:off x="358401" y="123089"/>
            <a:ext cx="6289768" cy="3063085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views to simplify data retrieval by displaying all patient records, General department patient details, doctor-wise total consultation fee, average consultation fee by appointment date.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E83832-3BC5-4ED8-EFDF-C389AC7D4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61275CD-1622-C879-7FE1-086C90827F75}"/>
              </a:ext>
            </a:extLst>
          </p:cNvPr>
          <p:cNvSpPr/>
          <p:nvPr/>
        </p:nvSpPr>
        <p:spPr>
          <a:xfrm flipV="1">
            <a:off x="744625" y="4770453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AE9F90-0C8A-B967-58E7-3E474A58A342}"/>
              </a:ext>
            </a:extLst>
          </p:cNvPr>
          <p:cNvSpPr/>
          <p:nvPr/>
        </p:nvSpPr>
        <p:spPr>
          <a:xfrm flipV="1">
            <a:off x="1302518" y="313163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A5B29F-3EDF-8AB7-5A4C-E5BFC394D400}"/>
              </a:ext>
            </a:extLst>
          </p:cNvPr>
          <p:cNvSpPr/>
          <p:nvPr/>
        </p:nvSpPr>
        <p:spPr>
          <a:xfrm flipV="1">
            <a:off x="1068476" y="397826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3A144061-30B7-313E-9AED-DCB83F6D93B2}"/>
              </a:ext>
            </a:extLst>
          </p:cNvPr>
          <p:cNvSpPr/>
          <p:nvPr/>
        </p:nvSpPr>
        <p:spPr>
          <a:xfrm>
            <a:off x="7638064" y="415200"/>
            <a:ext cx="4195536" cy="3198857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VVVV</a:t>
            </a:r>
            <a:endParaRPr lang="en-IN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A7F4E36-3684-9704-70D7-DEC70DD66686}"/>
              </a:ext>
            </a:extLst>
          </p:cNvPr>
          <p:cNvSpPr/>
          <p:nvPr/>
        </p:nvSpPr>
        <p:spPr>
          <a:xfrm>
            <a:off x="2775852" y="4770453"/>
            <a:ext cx="3080662" cy="180852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51AFFCD6-7D45-FC08-73F8-C376D466417C}"/>
              </a:ext>
            </a:extLst>
          </p:cNvPr>
          <p:cNvSpPr/>
          <p:nvPr/>
        </p:nvSpPr>
        <p:spPr>
          <a:xfrm>
            <a:off x="6096000" y="4770452"/>
            <a:ext cx="2785686" cy="179070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8F5BA-849D-F0F7-7D8C-124D34E8B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339" y="5176003"/>
            <a:ext cx="2572959" cy="997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FB0D29-36D6-945D-FD2B-50FD2FC3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022" y="5093633"/>
            <a:ext cx="2367642" cy="8957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AA0823-ED95-8E62-9476-C7A9186E0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232" y="776800"/>
            <a:ext cx="3505200" cy="22745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D66B9DC8-6944-167D-FD1A-413C45C59686}"/>
              </a:ext>
            </a:extLst>
          </p:cNvPr>
          <p:cNvSpPr/>
          <p:nvPr/>
        </p:nvSpPr>
        <p:spPr>
          <a:xfrm>
            <a:off x="4735286" y="3003126"/>
            <a:ext cx="2521067" cy="150355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7C2E3-5161-D75C-42A9-41E487676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759" y="3305056"/>
            <a:ext cx="1734120" cy="7335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46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32EC-F369-6D77-B2EC-A1E38B4B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31EF744-CE5B-774E-16A5-22CEB9FB29BF}"/>
              </a:ext>
            </a:extLst>
          </p:cNvPr>
          <p:cNvSpPr/>
          <p:nvPr/>
        </p:nvSpPr>
        <p:spPr>
          <a:xfrm flipH="1">
            <a:off x="402770" y="598714"/>
            <a:ext cx="11114315" cy="545374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E507D-E0F2-4350-1939-1BAE7F82B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525032-5E51-CC08-724B-E61926D7F56F}"/>
              </a:ext>
            </a:extLst>
          </p:cNvPr>
          <p:cNvSpPr txBox="1"/>
          <p:nvPr/>
        </p:nvSpPr>
        <p:spPr>
          <a:xfrm>
            <a:off x="1354871" y="805541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108D2-3C3C-02FA-6807-FFF66B570D5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E9216-A267-42D0-7D45-12378B8F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92" y="1097342"/>
            <a:ext cx="4173547" cy="15159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84F29-0692-A847-AD87-16DDAD835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89" y="2789181"/>
            <a:ext cx="2867009" cy="2392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8E28F9-FE84-EFC4-491C-24F5223A1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097" y="2841252"/>
            <a:ext cx="2523088" cy="24643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8F5803-83BF-A57E-DFEF-D86801C65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984" y="2849207"/>
            <a:ext cx="2266889" cy="24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45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7C0-38B7-9833-25E4-13E19CB1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C8D89625-7A82-0210-6441-BD6724FD5350}"/>
              </a:ext>
            </a:extLst>
          </p:cNvPr>
          <p:cNvSpPr/>
          <p:nvPr/>
        </p:nvSpPr>
        <p:spPr>
          <a:xfrm flipH="1">
            <a:off x="610631" y="446144"/>
            <a:ext cx="10776857" cy="558437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B0AD5-B324-2673-E6A3-6527E9572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5505A7-22CB-6B79-259B-A9CC6B83F8C8}"/>
              </a:ext>
            </a:extLst>
          </p:cNvPr>
          <p:cNvSpPr txBox="1"/>
          <p:nvPr/>
        </p:nvSpPr>
        <p:spPr>
          <a:xfrm>
            <a:off x="1354871" y="805541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7D5D7-6132-5A85-E768-09A19F455282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D6A40-D519-D397-E4A9-8DCFED7A8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90" y="1617510"/>
            <a:ext cx="2534004" cy="3429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54AF52-2C47-34D6-49B6-A49EFA8DC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962" y="1715404"/>
            <a:ext cx="2722974" cy="3427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1015F-8468-7AD5-89F5-246006BB6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845" y="1715404"/>
            <a:ext cx="2667372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8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C35C-040F-8B25-DF61-EDC8386F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88E5070-D2AC-0606-B342-7FDA89380995}"/>
              </a:ext>
            </a:extLst>
          </p:cNvPr>
          <p:cNvSpPr/>
          <p:nvPr/>
        </p:nvSpPr>
        <p:spPr>
          <a:xfrm>
            <a:off x="713014" y="296839"/>
            <a:ext cx="6580415" cy="242708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 number of distinct cities in the patient table</a:t>
            </a:r>
            <a:r>
              <a:rPr lang="en-IN" sz="2400" b="1" dirty="0"/>
              <a:t>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C9ED36-2CBA-4B4E-AF1F-9F1FD1C71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9A338A9-AF71-8C5E-D63D-3F716D1E186C}"/>
              </a:ext>
            </a:extLst>
          </p:cNvPr>
          <p:cNvSpPr/>
          <p:nvPr/>
        </p:nvSpPr>
        <p:spPr>
          <a:xfrm flipV="1">
            <a:off x="1068475" y="479192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C4291-68CB-6C0D-C947-970EAC5FD559}"/>
              </a:ext>
            </a:extLst>
          </p:cNvPr>
          <p:cNvSpPr/>
          <p:nvPr/>
        </p:nvSpPr>
        <p:spPr>
          <a:xfrm flipV="1">
            <a:off x="1921326" y="3164477"/>
            <a:ext cx="702127" cy="209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018B16-9BFD-713F-E7A0-B6FF47B0ADBF}"/>
              </a:ext>
            </a:extLst>
          </p:cNvPr>
          <p:cNvSpPr/>
          <p:nvPr/>
        </p:nvSpPr>
        <p:spPr>
          <a:xfrm flipV="1">
            <a:off x="1494066" y="399882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207EB79E-1B1D-1616-41D8-E9C8F74F3583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01CD0-35C8-2243-1C2A-D05CAE5A2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149" y="763466"/>
            <a:ext cx="3645122" cy="24141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D964C0-E50B-30BA-701C-A041382BF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78" y="3679371"/>
            <a:ext cx="2708596" cy="11983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092B9-5646-A811-54D0-CD0511994C88}"/>
              </a:ext>
            </a:extLst>
          </p:cNvPr>
          <p:cNvSpPr txBox="1"/>
          <p:nvPr/>
        </p:nvSpPr>
        <p:spPr>
          <a:xfrm rot="10800000" flipH="1" flipV="1">
            <a:off x="2253343" y="5318294"/>
            <a:ext cx="5279571" cy="923330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counts only unique city names, providing the total number of different cities represented in the patient table.</a:t>
            </a:r>
          </a:p>
        </p:txBody>
      </p:sp>
    </p:spTree>
    <p:extLst>
      <p:ext uri="{BB962C8B-B14F-4D97-AF65-F5344CB8AC3E}">
        <p14:creationId xmlns:p14="http://schemas.microsoft.com/office/powerpoint/2010/main" val="426776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9E8-24D9-D96B-E8BD-4D17B155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87D09DD2-C2D4-BCB0-D2B5-5838EE63D478}"/>
              </a:ext>
            </a:extLst>
          </p:cNvPr>
          <p:cNvSpPr/>
          <p:nvPr/>
        </p:nvSpPr>
        <p:spPr>
          <a:xfrm>
            <a:off x="478971" y="296840"/>
            <a:ext cx="6853464" cy="228307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60FFF0-3EE1-A1E8-34B2-4A77EB0EC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044B5D7-04E9-5A5E-2830-F1050C1B7AD4}"/>
              </a:ext>
            </a:extLst>
          </p:cNvPr>
          <p:cNvSpPr/>
          <p:nvPr/>
        </p:nvSpPr>
        <p:spPr>
          <a:xfrm flipV="1">
            <a:off x="1089931" y="455241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80C629-3F4B-276B-F4CA-7095DB49A1ED}"/>
              </a:ext>
            </a:extLst>
          </p:cNvPr>
          <p:cNvSpPr/>
          <p:nvPr/>
        </p:nvSpPr>
        <p:spPr>
          <a:xfrm flipV="1">
            <a:off x="1728108" y="2973702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D28F69-9F69-39F7-7C86-60CCA7534934}"/>
              </a:ext>
            </a:extLst>
          </p:cNvPr>
          <p:cNvSpPr/>
          <p:nvPr/>
        </p:nvSpPr>
        <p:spPr>
          <a:xfrm flipV="1">
            <a:off x="1413782" y="373810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DE98B619-7F54-516D-30CD-C4F644D02663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CB42D-5C0B-196A-C65C-E3B3BB38D26B}"/>
              </a:ext>
            </a:extLst>
          </p:cNvPr>
          <p:cNvSpPr txBox="1"/>
          <p:nvPr/>
        </p:nvSpPr>
        <p:spPr>
          <a:xfrm>
            <a:off x="906551" y="90159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display each city along with the number of patients living in that city</a:t>
            </a:r>
            <a:r>
              <a:rPr lang="en-IN" b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6F8A2-6B82-055F-05BB-DFF915C10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762000"/>
            <a:ext cx="3590471" cy="2527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653A65-9750-1470-2C7A-E04E19E65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234" y="2706671"/>
            <a:ext cx="2247900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50B26E-C53A-E740-0909-B27EB8F9F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2" y="2706671"/>
            <a:ext cx="2247901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CA9B37-1233-919B-4D83-D6EC5E2B468C}"/>
              </a:ext>
            </a:extLst>
          </p:cNvPr>
          <p:cNvSpPr txBox="1"/>
          <p:nvPr/>
        </p:nvSpPr>
        <p:spPr>
          <a:xfrm>
            <a:off x="2264229" y="5794364"/>
            <a:ext cx="5673272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patient count, making it easy to identify which cities have the highest and lowest number of patients.</a:t>
            </a:r>
          </a:p>
        </p:txBody>
      </p:sp>
    </p:spTree>
    <p:extLst>
      <p:ext uri="{BB962C8B-B14F-4D97-AF65-F5344CB8AC3E}">
        <p14:creationId xmlns:p14="http://schemas.microsoft.com/office/powerpoint/2010/main" val="363575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16AE-B2A3-BB44-D16D-2156F284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2C24EB4-1A3F-F284-DB68-026C962D68E4}"/>
              </a:ext>
            </a:extLst>
          </p:cNvPr>
          <p:cNvSpPr/>
          <p:nvPr/>
        </p:nvSpPr>
        <p:spPr>
          <a:xfrm>
            <a:off x="892628" y="163286"/>
            <a:ext cx="6204857" cy="301171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doctor who treated the maximum number of patients.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B1C83C-C12E-5709-185A-4564BF73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9AAA53E-B10C-CBFC-F25E-16C1DC4F56D4}"/>
              </a:ext>
            </a:extLst>
          </p:cNvPr>
          <p:cNvSpPr/>
          <p:nvPr/>
        </p:nvSpPr>
        <p:spPr>
          <a:xfrm flipV="1">
            <a:off x="1060627" y="4923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6EF9A2-D746-EE92-FDC6-C1B0759A5F1E}"/>
              </a:ext>
            </a:extLst>
          </p:cNvPr>
          <p:cNvSpPr/>
          <p:nvPr/>
        </p:nvSpPr>
        <p:spPr>
          <a:xfrm flipV="1">
            <a:off x="1698486" y="3384505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8BD2FE0-C30E-EEF3-8063-BE23BB8B1ADD}"/>
              </a:ext>
            </a:extLst>
          </p:cNvPr>
          <p:cNvSpPr/>
          <p:nvPr/>
        </p:nvSpPr>
        <p:spPr>
          <a:xfrm flipV="1">
            <a:off x="1371916" y="417015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EE303E0A-E585-49FE-71DC-EEA6B5111EC8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3C90D-E96A-6B10-C6C3-7554D020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92" y="820572"/>
            <a:ext cx="3753847" cy="23544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1D0B7A-1522-6C33-0B5F-45FAAA96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935" y="3835067"/>
            <a:ext cx="2536372" cy="12971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CAC380-5F2C-DAC5-8724-78CFE4F8D8F6}"/>
              </a:ext>
            </a:extLst>
          </p:cNvPr>
          <p:cNvSpPr txBox="1"/>
          <p:nvPr/>
        </p:nvSpPr>
        <p:spPr>
          <a:xfrm>
            <a:off x="2166257" y="5519470"/>
            <a:ext cx="5517244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doctor who treated the maximum number of patients, highlighting the busiest doctor based on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3931745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8599-BD4B-320D-BCF6-D5866E34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7DA8F92-BDE9-E8FA-93DC-67619FD0C6F5}"/>
              </a:ext>
            </a:extLst>
          </p:cNvPr>
          <p:cNvSpPr/>
          <p:nvPr/>
        </p:nvSpPr>
        <p:spPr>
          <a:xfrm>
            <a:off x="664029" y="336553"/>
            <a:ext cx="5961514" cy="2682159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number of patients born in each decade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628A5E-82CA-4DE8-E2CC-17E2FBF58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55AE57C-E3C7-DF66-BA8F-D83955F2ABEB}"/>
              </a:ext>
            </a:extLst>
          </p:cNvPr>
          <p:cNvSpPr/>
          <p:nvPr/>
        </p:nvSpPr>
        <p:spPr>
          <a:xfrm flipV="1">
            <a:off x="906551" y="4758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B75F541-FBD0-80E2-81AF-C9D8C4CAD82D}"/>
              </a:ext>
            </a:extLst>
          </p:cNvPr>
          <p:cNvSpPr/>
          <p:nvPr/>
        </p:nvSpPr>
        <p:spPr>
          <a:xfrm flipV="1">
            <a:off x="1809750" y="3218151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F0EA47-21CB-E83C-023A-397DA3E7331D}"/>
              </a:ext>
            </a:extLst>
          </p:cNvPr>
          <p:cNvSpPr/>
          <p:nvPr/>
        </p:nvSpPr>
        <p:spPr>
          <a:xfrm flipV="1">
            <a:off x="1341666" y="400076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7F884DA-F810-E101-CF44-E1553DE82F64}"/>
              </a:ext>
            </a:extLst>
          </p:cNvPr>
          <p:cNvSpPr/>
          <p:nvPr/>
        </p:nvSpPr>
        <p:spPr>
          <a:xfrm>
            <a:off x="7629752" y="382543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AA527-A3F7-09B8-256F-E43B56051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069" y="718004"/>
            <a:ext cx="3600902" cy="26324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F05E45-061F-6654-E804-258EAB214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629" y="3429000"/>
            <a:ext cx="3341914" cy="17142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ED6A91-72ED-9FCA-EA28-2303AEBB9448}"/>
              </a:ext>
            </a:extLst>
          </p:cNvPr>
          <p:cNvSpPr txBox="1"/>
          <p:nvPr/>
        </p:nvSpPr>
        <p:spPr>
          <a:xfrm>
            <a:off x="2307772" y="5478062"/>
            <a:ext cx="5976258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decade-wise summary of patients, making it easy to understand the distribution of patients across different birth decades.</a:t>
            </a:r>
          </a:p>
        </p:txBody>
      </p:sp>
    </p:spTree>
    <p:extLst>
      <p:ext uri="{BB962C8B-B14F-4D97-AF65-F5344CB8AC3E}">
        <p14:creationId xmlns:p14="http://schemas.microsoft.com/office/powerpoint/2010/main" val="99648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8B55-F0F5-8830-95BB-F3F5F1E3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80616F0F-BA71-C572-6815-25DE53CD5A97}"/>
              </a:ext>
            </a:extLst>
          </p:cNvPr>
          <p:cNvSpPr/>
          <p:nvPr/>
        </p:nvSpPr>
        <p:spPr>
          <a:xfrm>
            <a:off x="3456482" y="300533"/>
            <a:ext cx="7984404" cy="4654257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DD5400-3A9D-4DA4-4EA9-355A9CAB6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1" y="5416265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E2F5FEF-ACC5-A057-73D3-3F06425C5424}"/>
              </a:ext>
            </a:extLst>
          </p:cNvPr>
          <p:cNvSpPr/>
          <p:nvPr/>
        </p:nvSpPr>
        <p:spPr>
          <a:xfrm flipV="1">
            <a:off x="1435553" y="4954790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9B1C69-E1FB-0379-7844-A11FEEB60EEC}"/>
              </a:ext>
            </a:extLst>
          </p:cNvPr>
          <p:cNvSpPr/>
          <p:nvPr/>
        </p:nvSpPr>
        <p:spPr>
          <a:xfrm flipV="1">
            <a:off x="2754355" y="3794935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BA91446-F5E7-D0B1-892C-778F1A4AF0E1}"/>
              </a:ext>
            </a:extLst>
          </p:cNvPr>
          <p:cNvSpPr/>
          <p:nvPr/>
        </p:nvSpPr>
        <p:spPr>
          <a:xfrm flipV="1">
            <a:off x="2139859" y="436284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2C812-E40D-3980-7B92-10598ACEA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56127" y="163284"/>
            <a:ext cx="886886" cy="9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9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616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Prasad</dc:creator>
  <cp:lastModifiedBy>Shiva Prasad</cp:lastModifiedBy>
  <cp:revision>1</cp:revision>
  <dcterms:created xsi:type="dcterms:W3CDTF">2026-07-21T15:39:21Z</dcterms:created>
  <dcterms:modified xsi:type="dcterms:W3CDTF">2026-09-10T15:32:03Z</dcterms:modified>
</cp:coreProperties>
</file>